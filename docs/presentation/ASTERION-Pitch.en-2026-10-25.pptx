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795195c724436f" /><Relationship Type="http://schemas.openxmlformats.org/officeDocument/2006/relationships/extended-properties" Target="/docProps/app.xml" Id="Ree78f8c0d76e42ba" /><Relationship Type="http://schemas.openxmlformats.org/officeDocument/2006/relationships/officeDocument" Target="/ppt/presentation.xml" Id="R5303af3173824e6e" /></Relationships>
</file>

<file path=ppt/presentation.xml><?xml version="1.0" encoding="utf-8"?>
<p:presentation xmlns:p="http://schemas.openxmlformats.org/presentationml/2006/main">
  <p:sldMasterIdLst>
    <p:sldMasterId xmlns:r="http://schemas.openxmlformats.org/officeDocument/2006/relationships" id="2147483648" r:id="R9683489e8bc6486a"/>
  </p:sldMasterIdLst>
  <p:notesMasterIdLst>
    <p:notesMasterId xmlns:r="http://schemas.openxmlformats.org/officeDocument/2006/relationships" r:id="R673ce8aebab84f6e"/>
  </p:notesMasterIdLst>
  <p:sldIdLst>
    <p:sldId xmlns:r="http://schemas.openxmlformats.org/officeDocument/2006/relationships" id="256" r:id="R142049cea5a145a7"/>
    <p:sldId xmlns:r="http://schemas.openxmlformats.org/officeDocument/2006/relationships" id="257" r:id="R77313905c4324f49"/>
    <p:sldId xmlns:r="http://schemas.openxmlformats.org/officeDocument/2006/relationships" id="258" r:id="R6f59c5a48e0b426b"/>
    <p:sldId xmlns:r="http://schemas.openxmlformats.org/officeDocument/2006/relationships" id="259" r:id="Ra6d39b7f8f5b48b1"/>
    <p:sldId xmlns:r="http://schemas.openxmlformats.org/officeDocument/2006/relationships" id="260" r:id="Rac103c7cdd474748"/>
    <p:sldId xmlns:r="http://schemas.openxmlformats.org/officeDocument/2006/relationships" id="261" r:id="Rc4a92619a29844a1"/>
    <p:sldId xmlns:r="http://schemas.openxmlformats.org/officeDocument/2006/relationships" id="262" r:id="R85668e880ca844ce"/>
    <p:sldId xmlns:r="http://schemas.openxmlformats.org/officeDocument/2006/relationships" id="263" r:id="Rdc413725d69743dd"/>
    <p:sldId xmlns:r="http://schemas.openxmlformats.org/officeDocument/2006/relationships" id="264" r:id="Rcca333a4bdba4ec2"/>
    <p:sldId xmlns:r="http://schemas.openxmlformats.org/officeDocument/2006/relationships" id="265" r:id="Re7f76ddf8ca74d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2a3231c3824ca7" /><Relationship Type="http://schemas.openxmlformats.org/officeDocument/2006/relationships/slideMaster" Target="/ppt/slideMasters/slideMaster1.xml" Id="R9683489e8bc6486a" /><Relationship Type="http://schemas.openxmlformats.org/officeDocument/2006/relationships/notesMaster" Target="/ppt/notesMasters/notesMaster1.xml" Id="R673ce8aebab84f6e" /><Relationship Type="http://schemas.openxmlformats.org/officeDocument/2006/relationships/presProps" Target="/ppt/presProps.xml" Id="R4d7575d3d32b4247" /><Relationship Type="http://schemas.openxmlformats.org/officeDocument/2006/relationships/tableStyles" Target="/ppt/tableStyles.xml" Id="R47113b2db50d46e3" /><Relationship Type="http://schemas.openxmlformats.org/officeDocument/2006/relationships/slide" Target="/ppt/slides/slide1.xml" Id="R142049cea5a145a7" /><Relationship Type="http://schemas.openxmlformats.org/officeDocument/2006/relationships/slide" Target="/ppt/slides/slide2.xml" Id="R77313905c4324f49" /><Relationship Type="http://schemas.openxmlformats.org/officeDocument/2006/relationships/slide" Target="/ppt/slides/slide3.xml" Id="R6f59c5a48e0b426b" /><Relationship Type="http://schemas.openxmlformats.org/officeDocument/2006/relationships/slide" Target="/ppt/slides/slide4.xml" Id="Ra6d39b7f8f5b48b1" /><Relationship Type="http://schemas.openxmlformats.org/officeDocument/2006/relationships/slide" Target="/ppt/slides/slide5.xml" Id="Rac103c7cdd474748" /><Relationship Type="http://schemas.openxmlformats.org/officeDocument/2006/relationships/slide" Target="/ppt/slides/slide6.xml" Id="Rc4a92619a29844a1" /><Relationship Type="http://schemas.openxmlformats.org/officeDocument/2006/relationships/slide" Target="/ppt/slides/slide7.xml" Id="R85668e880ca844ce" /><Relationship Type="http://schemas.openxmlformats.org/officeDocument/2006/relationships/slide" Target="/ppt/slides/slide8.xml" Id="Rdc413725d69743dd" /><Relationship Type="http://schemas.openxmlformats.org/officeDocument/2006/relationships/slide" Target="/ppt/slides/slide9.xml" Id="Rcca333a4bdba4ec2" /><Relationship Type="http://schemas.openxmlformats.org/officeDocument/2006/relationships/slide" Target="/ppt/slides/slide10.xml" Id="Re7f76ddf8ca74d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3ecd50a71d45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1fcae93ddd456a" /><Relationship Type="http://schemas.openxmlformats.org/officeDocument/2006/relationships/notesMaster" Target="/ppt/notesMasters/notesMaster1.xml" Id="Rf2b7609c9dcf4f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1270e6e2f640eb" /><Relationship Type="http://schemas.openxmlformats.org/officeDocument/2006/relationships/notesMaster" Target="/ppt/notesMasters/notesMaster1.xml" Id="Re348e9ad10c743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46acf333844ed1" /><Relationship Type="http://schemas.openxmlformats.org/officeDocument/2006/relationships/notesMaster" Target="/ppt/notesMasters/notesMaster1.xml" Id="R497976b9212b48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aafb1c52b5429c" /><Relationship Type="http://schemas.openxmlformats.org/officeDocument/2006/relationships/notesMaster" Target="/ppt/notesMasters/notesMaster1.xml" Id="R86cbd151ef2043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fa241214a243e9" /><Relationship Type="http://schemas.openxmlformats.org/officeDocument/2006/relationships/notesMaster" Target="/ppt/notesMasters/notesMaster1.xml" Id="R17989c12e7504e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d9a9fd9c384019" /><Relationship Type="http://schemas.openxmlformats.org/officeDocument/2006/relationships/notesMaster" Target="/ppt/notesMasters/notesMaster1.xml" Id="Rae98d6000a2641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0e33e215cc41eb" /><Relationship Type="http://schemas.openxmlformats.org/officeDocument/2006/relationships/notesMaster" Target="/ppt/notesMasters/notesMaster1.xml" Id="R7e4095278e384e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ee909185334139" /><Relationship Type="http://schemas.openxmlformats.org/officeDocument/2006/relationships/notesMaster" Target="/ppt/notesMasters/notesMaster1.xml" Id="R08fad504a62847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a33a9f11e347ad" /><Relationship Type="http://schemas.openxmlformats.org/officeDocument/2006/relationships/notesMaster" Target="/ppt/notesMasters/notesMaster1.xml" Id="Ra66c3b880cad43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feafde193c4874" /><Relationship Type="http://schemas.openxmlformats.org/officeDocument/2006/relationships/notesMaster" Target="/ppt/notesMasters/notesMaster1.xml" Id="Rc27c6be913c942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an extraordinary night under the stars. Coordinate the guide, telescope and transport. Stay within my budget, and complete payment only when the evidence satisfies the conditions I approve.”</a:t>
            </a:r>
          </a:p>
          <a:p xmlns:a="http://schemas.openxmlformats.org/drawingml/2006/main">
            <a:r>
              <a:t/>
            </a:r>
          </a:p>
          <a:p xmlns:a="http://schemas.openxmlformats.org/drawingml/2006/main">
            <a:r>
              <a:t>That request is ASTERION's starting point. The product combines agent proposals with an explicit financial mandate and an inspectable execution policy. We have verified a private three-supplier Gemini negotiation followed by autonomous PayPal Sandbox settlement of the same agreement. Sandbox uses fictitious funds. We have also verified a separate cloudy-condition authorization void.</a:t>
            </a:r>
          </a:p>
          <a:p xmlns:a="http://schemas.openxmlformats.org/drawingml/2006/main">
            <a:r>
              <a:t/>
            </a:r>
          </a:p>
          <a:p xmlns:a="http://schemas.openxmlformats.org/drawingml/2006/main">
            <a:r>
              <a:t>The public application provides a reproducible demonstration with simulated payments. We keep these environments visible because a credible financial agent must make its authority and evidence clear.</a:t>
            </a:r>
          </a:p>
          <a:p xmlns:a="http://schemas.openxmlformats.org/drawingml/2006/main">
            <a:r>
              <a:t/>
            </a:r>
          </a:p>
          <a:p xmlns:a="http://schemas.openxmlformats.org/drawingml/2006/main">
            <a:r>
              <a:t>Sources: integrated AI and Sandbox evidence: https://github.com/Enrickq/asterion-commerce/blob/main/docs/evidence/ai-sandbox-run.json, baseline PayPal outcomes: https://github.com/Enrickq/asterion-commerce/blob/main/docs/evidence/paypal-sandbox.json, public verification: https://github.com/Enrickq/asterion-commerce/blob/main/docs/VERIFICATION.es.md, official hackathon announcement: https://developer.paypal.com/community/blog/PayPal_AI_Hackathon/.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customer wants an experience that can happen under acceptable conditions. Coordinating three separate suppliers creates work before checkout and uncertainty afterward. Our product thesis is that agents can negotiate the components while an application enforces one common mandate.</a:t>
            </a:r>
          </a:p>
          <a:p xmlns:a="http://schemas.openxmlformats.org/drawingml/2006/main">
            <a:r>
              <a:t/>
            </a:r>
          </a:p>
          <a:p xmlns:a="http://schemas.openxmlformats.org/drawingml/2006/main">
            <a:r>
              <a:t>This changes the interaction from selecting individual line items to approving a proposed outcome. The user still approves the agreement and the PayPal order. The model cannot increase the budget, rewrite the approved conditions or invoke payment tools.</a:t>
            </a:r>
          </a:p>
          <a:p xmlns:a="http://schemas.openxmlformats.org/drawingml/2006/main">
            <a:r>
              <a:t/>
            </a:r>
          </a:p>
          <a:p xmlns:a="http://schemas.openxmlformats.org/drawingml/2006/main">
            <a:r>
              <a:t>This is a product hypothesis, not a claim that every purchase should become autonomous. The first useful markets are coordinated purchases whose conditions can be expressed and verified.</a:t>
            </a:r>
          </a:p>
          <a:p xmlns:a="http://schemas.openxmlformats.org/drawingml/2006/main">
            <a:r>
              <a:t/>
            </a:r>
          </a:p>
          <a:p xmlns:a="http://schemas.openxmlformats.org/drawingml/2006/main">
            <a:r>
              <a:t>Source: architecture and trust boundaries: https://github.com/Enrickq/asterion-commerce/blob/main/docs/ARCHITECTURE.md.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October 23, Canary Islands time, three isolated `gemini-3.1-flash-lite` supplier requests returned valid quotes. The backend validated whole-cent amounts against each supplier's limits and persisted this €1,650 agreement within the €1,700 mandate. Inference took about 55 seconds in that run.</a:t>
            </a:r>
          </a:p>
          <a:p xmlns:a="http://schemas.openxmlformats.org/drawingml/2006/main">
            <a:r>
              <a:t/>
            </a:r>
          </a:p>
          <a:p xmlns:a="http://schemas.openxmlformats.org/drawingml/2006/main">
            <a:r>
              <a:t>These prices came from a simulated service catalog. They are not quotations from actual La Palma operators. The €180 organizer allocation is a gross remainder before fees, taxes and other costs, not demonstrated profit.</a:t>
            </a:r>
          </a:p>
          <a:p xmlns:a="http://schemas.openxmlformats.org/drawingml/2006/main">
            <a:r>
              <a:t/>
            </a:r>
          </a:p>
          <a:p xmlns:a="http://schemas.openxmlformats.org/drawingml/2006/main">
            <a:r>
              <a:t>The proposed nighttime experience would use a permitted nearby observation site and a provider's own equipment. Public visits to the observatory's research telescopes take place during the day. We do not imply an IAC partnership, nighttime access to scientific telescopes or a completed reservation.</a:t>
            </a:r>
          </a:p>
          <a:p xmlns:a="http://schemas.openxmlformats.org/drawingml/2006/main">
            <a:r>
              <a:t/>
            </a:r>
          </a:p>
          <a:p xmlns:a="http://schemas.openxmlformats.org/drawingml/2006/main">
            <a:r>
              <a:t>Sources: Gemini request metadata and allocations: https://github.com/Enrickq/asterion-commerce/blob/main/docs/evidence/gemini-verification.json, same-agreement settlement evidence: https://github.com/Enrickq/asterion-commerce/blob/main/docs/evidence/ai-sandbox-run.json, IAC visitor guidance: https://iac.es/es/observatorios-de-canarias/observatorio-del-roque-de-los-muchachos/visitas.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application runs one Node.js 24 process with SQLite. React and Vite power the interface. AG Grid Community exposes supplier allocations and operational states.</a:t>
            </a:r>
          </a:p>
          <a:p xmlns:a="http://schemas.openxmlformats.org/drawingml/2006/main">
            <a:r>
              <a:t/>
            </a:r>
          </a:p>
          <a:p xmlns:a="http://schemas.openxmlformats.org/drawingml/2006/main">
            <a:r>
              <a:t>In the Gemini path, each supplier receives a separate context containing its own price limits. Its only declared function is `quote`. Returned arguments are data that the backend validates. The model receives no payment tools, provider credentials or authority to reserve real inventory.</a:t>
            </a:r>
          </a:p>
          <a:p xmlns:a="http://schemas.openxmlformats.org/drawingml/2006/main">
            <a:r>
              <a:t/>
            </a:r>
          </a:p>
          <a:p xmlns:a="http://schemas.openxmlformats.org/drawingml/2006/main">
            <a:r>
              <a:t>After buyer approval and authorization, arming Autopilot persists a job before acknowledging it. A server worker evaluates evidence and follows the capture or void path without another financial command from the browser. The application saves operation identifiers before provider requests and treats uncertain results as unresolved until reconciliation. This supports recovery when the database survives a restart.</a:t>
            </a:r>
          </a:p>
          <a:p xmlns:a="http://schemas.openxmlformats.org/drawingml/2006/main">
            <a:r>
              <a:t/>
            </a:r>
          </a:p>
          <a:p xmlns:a="http://schemas.openxmlformats.org/drawingml/2006/main">
            <a:r>
              <a:t>The free public Render service uses ephemeral storage. Local restart recovery tests do not make that hosted filesystem durable. Scaling beyond one process requires transactional shared storage and durable work orchestration.</a:t>
            </a:r>
          </a:p>
          <a:p xmlns:a="http://schemas.openxmlformats.org/drawingml/2006/main">
            <a:r>
              <a:t/>
            </a:r>
          </a:p>
          <a:p xmlns:a="http://schemas.openxmlformats.org/drawingml/2006/main">
            <a:r>
              <a:t>Sources: architecture: https://github.com/Enrickq/asterion-commerce/blob/main/docs/ARCHITECTURE.md, Gemini implementation and validation: https://github.com/Enrickq/asterion-commerce/blob/main/docs/INTEGRATIONS.md#optional-google-gemini-negotiation.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show the status of each integration because sponsor use must be meaningful and demonstrable. AG Grid Community is part of the working React interface. We do not claim AG Studio or Enterprise functionality.</a:t>
            </a:r>
          </a:p>
          <a:p xmlns:a="http://schemas.openxmlformats.org/drawingml/2006/main">
            <a:r>
              <a:t/>
            </a:r>
          </a:p>
          <a:p xmlns:a="http://schemas.openxmlformats.org/drawingml/2006/main">
            <a:r>
              <a:t>Render hosts the free Frankfurt web service. Hosted clear and cloudy Autopilot flows and receipt integrity have been verified. This deployment is a web service, not Render Workflows usage.</a:t>
            </a:r>
          </a:p>
          <a:p xmlns:a="http://schemas.openxmlformats.org/drawingml/2006/main">
            <a:r>
              <a:t/>
            </a:r>
          </a:p>
          <a:p xmlns:a="http://schemas.openxmlformats.org/drawingml/2006/main">
            <a:r>
              <a:t>APIMatic's PayPal Context Plugin was installed and consulted during implementation review, including uncertain capture responses and reconciliation. It is a development aid. This application uses direct PayPal REST calls and does not claim a generated APIMatic SDK or runtime payment processing by APIMatic.</a:t>
            </a:r>
          </a:p>
          <a:p xmlns:a="http://schemas.openxmlformats.org/drawingml/2006/main">
            <a:r>
              <a:t/>
            </a:r>
          </a:p>
          <a:p xmlns:a="http://schemas.openxmlformats.org/drawingml/2006/main">
            <a:r>
              <a:t>Kernel has an implemented session adapter but no recorded external run. It does not currently scrape terms, reserve inventory or certify weather. Astropods, Elastic and Channel3 remain proposed extensions. Using or listing three sponsors does not itself establish eligibility for any sponsor award.</a:t>
            </a:r>
          </a:p>
          <a:p xmlns:a="http://schemas.openxmlformats.org/drawingml/2006/main">
            <a:r>
              <a:t/>
            </a:r>
          </a:p>
          <a:p xmlns:a="http://schemas.openxmlformats.org/drawingml/2006/main">
            <a:r>
              <a:t>Sources: integration matrix: https://github.com/Enrickq/asterion-commerce/blob/main/docs/INTEGRATIONS.md, APIMatic evidence: https://github.com/Enrickq/asterion-commerce/blob/main/docs/APIMATIC-CONTEXT.md, public deployment verification: https://github.com/Enrickq/asterion-commerce/blob/main/docs/VERIFICATION.es.md, official partner announcement: https://developer.paypal.com/community/blog/PayPal_AI_Hackathon/.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plan. Use docs/VIDEO-RECORDING.en.md and docs/DEMO.en.md. Record the working public application in simulation mode with a €1,500 ceiling and its €1,480 deterministic agreement. Show customer consent, clear-fixture Autopilot, then a visibly separate cloudy agreement. Switch to the public Verified runs view and label the €1,650 Gemini/PayPal outcome as recorded private evidence from 23 October 2026, rather than footage of a new run. It includes actual Gemini requests and actual PayPal Sandbox API operations using fictitious funds. All supplier inventory and settlement weather remain fixtures. Label edited waits. If a future fresh private run is recorded, revise every amount and claim to match it.</a:t>
            </a:r>
          </a:p>
          <a:p xmlns:a="http://schemas.openxmlformats.org/drawingml/2006/main">
            <a:r>
              <a:t>Sources: https://github.com/Enrickq/asterion-commerce/blob/main/docs/DEMO.en.md</a:t>
            </a:r>
          </a:p>
          <a:p xmlns:a="http://schemas.openxmlformats.org/drawingml/2006/main">
            <a:r>
              <a:t>https://github.com/Enrickq/asterion-commerce/blob/main/docs/VIDEO-RECORDING.en.md</a:t>
            </a:r>
          </a:p>
          <a:p xmlns:a="http://schemas.openxmlformats.org/drawingml/2006/main">
            <a:r>
              <a:t>https://asterion-mj13.onrender.com/#verified-runs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product contribution connects an approved agreement, evidence and a traceable execution decision. PayPal already provides the underlying authorization and capture capabilities.</a:t>
            </a:r>
          </a:p>
          <a:p xmlns:a="http://schemas.openxmlformats.org/drawingml/2006/main">
            <a:r>
              <a:t/>
            </a:r>
          </a:p>
          <a:p xmlns:a="http://schemas.openxmlformats.org/drawingml/2006/main">
            <a:r>
              <a:t>The adapter creates one Orders v2 purchase unit with `intent: AUTHORIZE`. After official buyer approval, it authorizes the order. Payments v2 then captures or voids the resulting authorization. The implementation retains order, authorization and capture identifiers separately.</a:t>
            </a:r>
          </a:p>
          <a:p xmlns:a="http://schemas.openxmlformats.org/drawingml/2006/main">
            <a:r>
              <a:t/>
            </a:r>
          </a:p>
          <a:p xmlns:a="http://schemas.openxmlformats.org/drawingml/2006/main">
            <a:r>
              <a:t>An authorization is subject to PayPal and funding-source rules. PayPal documents a 29-day authorization window and recommends capture within its initial three-day honor period. Capture remains subject to risk and availability. ASTERION does not provide escrow or install a smart contract inside PayPal. Voiding an authorization is different from refunding a captured payment.</a:t>
            </a:r>
          </a:p>
          <a:p xmlns:a="http://schemas.openxmlformats.org/drawingml/2006/main">
            <a:r>
              <a:t/>
            </a:r>
          </a:p>
          <a:p xmlns:a="http://schemas.openxmlformats.org/drawingml/2006/main">
            <a:r>
              <a:t>Payouts uses the organizer's available balance and requires the relevant PayPal access. Capture and supplier disbursements are not an atomic split. The application checks each supplier item's amount, currency, references and status. It does not relabel a pending batch as completed. Webhook handling exists, but actual webhook delivery remains unverified.</a:t>
            </a:r>
          </a:p>
          <a:p xmlns:a="http://schemas.openxmlformats.org/drawingml/2006/main">
            <a:r>
              <a:t/>
            </a:r>
          </a:p>
          <a:p xmlns:a="http://schemas.openxmlformats.org/drawingml/2006/main">
            <a:r>
              <a:t>Sources: PayPal authorization guidance: https://developer.paypal.com/docs/checkout/standard/customize/authorization/, Orders v2: https://developer.paypal.com/api/orders/v2, Payouts overview: https://developer.paypal.com/docs/payouts/standard/, webhook documentation: https://developer.paypal.com/api/rest/webhooks/, implementation and reconciliation: https://github.com/Enrickq/asterion-commerce/blob/main/docs/INTEGRATIONS.md#paypal-sandbox-validation.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deployed application revision is commit `c4428e9e1342ad4ad64b6198a7233da6ccebaf2a`. Its verification record reports 142 automated tests, preflight, a frontend build and system smoke checks locally and in CI, including offline receipt verification. Public clear and cloudy Autopilot flows were checked on this revision. The historical private model and payment runs retain their own baselines; they are not represented as new transactions performed by this release.</a:t>
            </a:r>
          </a:p>
          <a:p xmlns:a="http://schemas.openxmlformats.org/drawingml/2006/main">
            <a:r>
              <a:t/>
            </a:r>
          </a:p>
          <a:p xmlns:a="http://schemas.openxmlformats.org/drawingml/2006/main">
            <a:r>
              <a:t>Automated connector tests use mocks. Real-provider claims come from separate private runs followed by authenticated provider queries. The sanitized records retain transaction references and status metadata without credentials. They are local evidence summaries, not digitally signed attestations by PayPal or Google.</a:t>
            </a:r>
          </a:p>
          <a:p xmlns:a="http://schemas.openxmlformats.org/drawingml/2006/main">
            <a:r>
              <a:t/>
            </a:r>
          </a:p>
          <a:p xmlns:a="http://schemas.openxmlformats.org/drawingml/2006/main">
            <a:r>
              <a:t>The integrated agreement completed three real Gemini quote requests and subsequently settled through PayPal Sandbox using fictitious funds. The separate cloudy agreement demonstrates an authorization void. Both weather scenarios used fixtures. Earlier Gemini errors stopped without creating an agreement or payment, and the successful run does not imply guaranteed model availability.</a:t>
            </a:r>
          </a:p>
          <a:p xmlns:a="http://schemas.openxmlformats.org/drawingml/2006/main">
            <a:r>
              <a:t/>
            </a:r>
          </a:p>
          <a:p xmlns:a="http://schemas.openxmlformats.org/drawingml/2006/main">
            <a:r>
              <a:t>The public demo is available at asterion-mj13.onrender.com: https://asterion-mj13.onrender.com/. Its free service has cold starts and ephemeral SQLite/session storage. It blocks Sandbox payments and Kernel launches for public visitors.</a:t>
            </a:r>
          </a:p>
          <a:p xmlns:a="http://schemas.openxmlformats.org/drawingml/2006/main">
            <a:r>
              <a:t/>
            </a:r>
          </a:p>
          <a:p xmlns:a="http://schemas.openxmlformats.org/drawingml/2006/main">
            <a:r>
              <a:t>The separate **Read forecast** view retrieves a MET Norway model forecast with attribution, original model update time and forecast validity. It does not change an agreement or authorize capture. New policy checks reject renamed duplicate sources and incomplete or non-local actual observations. Declared source lineage is not a field-validated proof of independence.</a:t>
            </a:r>
          </a:p>
          <a:p xmlns:a="http://schemas.openxmlformats.org/drawingml/2006/main">
            <a:r>
              <a:t/>
            </a:r>
          </a:p>
          <a:p xmlns:a="http://schemas.openxmlformats.org/drawingml/2006/main">
            <a:r>
              <a:t>Sources: verification record and CI reference: https://github.com/Enrickq/asterion-commerce/blob/main/docs/VERIFICATION.es.md, integrated provider evidence: https://github.com/Enrickq/asterion-commerce/blob/main/docs/evidence/ai-sandbox-run.json, Gemini request metadata: https://github.com/Enrickq/asterion-commerce/blob/main/docs/evidence/gemini-verification.json, baseline PayPal outcomes: https://github.com/Enrickq/asterion-commerce/blob/main/docs/evidence/paypal-sandbox.json, public repository: https://github.com/Enrickq/asterion-commerce.</a:t>
            </a:r>
          </a:p>
          <a:p xmlns:a="http://schemas.openxmlformats.org/drawingml/2006/main">
            <a:r>
              <a:t>Source image: actual public application screenshot, 25 October 2026, docs/assets/asterion-verified-runs.png. Public recorded proof: https://asterion-mj13.onrender.com/#verified-runs. The screenshot preserves the public SIMULATION MODE label, and its recorded-private-run notice explicitly identifies Sandbox test funds. Offline receipt verification checks consistency and hashes, not provider authenticity. Refund and payout uncertainty retain explicit review states.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commercial proposal, not traction. We have not established a paying customer, a live booking pilot or product revenue. The operator would buy the software and remain the merchant for the coordinated experience.</a:t>
            </a:r>
          </a:p>
          <a:p xmlns:a="http://schemas.openxmlformats.org/drawingml/2006/main">
            <a:r>
              <a:t/>
            </a:r>
          </a:p>
          <a:p xmlns:a="http://schemas.openxmlformats.org/drawingml/2006/main">
            <a:r>
              <a:t>Twenty supervised reservations is an initial pilot design. The proposed €149 monthly fee and 1% settlement fee are illustrative pricing hypotheses to test through customer interviews and an authorized pilot. They are separate from the €180 organizer coordination allocation in the demonstration. They do not represent validated unit economics, margin or a charge currently implemented in the application.</a:t>
            </a:r>
          </a:p>
          <a:p xmlns:a="http://schemas.openxmlformats.org/drawingml/2006/main">
            <a:r>
              <a:t/>
            </a:r>
          </a:p>
          <a:p xmlns:a="http://schemas.openxmlformats.org/drawingml/2006/main">
            <a:r>
              <a:t>The pilot should establish whether the operator saves coordination time and whether customers understand conditional authorization. It should also record cancellations, blocked captures and disputes. A useful advantage would emerge from trusted supplier integrations, accepted sector policies and evidence that explains settlement decisions. Access to a foundation model alone does not establish that advantage.</a:t>
            </a:r>
          </a:p>
          <a:p xmlns:a="http://schemas.openxmlformats.org/drawingml/2006/main">
            <a:r>
              <a:t/>
            </a:r>
          </a:p>
          <a:p xmlns:a="http://schemas.openxmlformats.org/drawingml/2006/main">
            <a:r>
              <a:t>Context: current prototype scope and next steps: https://github.com/Enrickq/asterion-commerce/blob/main/docs/SUBMISSION.md#whats-next, architecture requirements before financial use: https://github.com/Enrickq/asterion-commerce/blob/main/docs/ARCHITECTURE.md#work-required-before-public-financial-use. Pilot size and pricing are explicitly proposed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establishes a technical starting point. The next milestone is a real oracle and actual operator integration, followed by a supervised pilot at a permitted location. A station observation or municipality forecast cannot silently replace the complete evidence required for a specific observation site.</a:t>
            </a:r>
          </a:p>
          <a:p xmlns:a="http://schemas.openxmlformats.org/drawingml/2006/main">
            <a:r>
              <a:t/>
            </a:r>
          </a:p>
          <a:p xmlns:a="http://schemas.openxmlformats.org/drawingml/2006/main">
            <a:r>
              <a:t>Commercial operation needs verified authentication, operator authorization, durable orchestration and storage, an appropriate merchant arrangement, PayPal approvals where required and support for disputes and recovery. The current single-process SQLite deployment is not a high-availability architecture.</a:t>
            </a:r>
          </a:p>
          <a:p xmlns:a="http://schemas.openxmlformats.org/drawingml/2006/main">
            <a:r>
              <a:t/>
            </a:r>
          </a:p>
          <a:p xmlns:a="http://schemas.openxmlformats.org/drawingml/2006/main">
            <a:r>
              <a:t>The reusable component is the mandate and policy boundary. Other purchases need their own evidence and contractual conditions. Coordinated travel, events and B2B delivery milestones are expansion hypotheses, not existing customers or integrations.</a:t>
            </a:r>
          </a:p>
          <a:p xmlns:a="http://schemas.openxmlformats.org/drawingml/2006/main">
            <a:r>
              <a:t/>
            </a:r>
          </a:p>
          <a:p xmlns:a="http://schemas.openxmlformats.org/drawingml/2006/main">
            <a:r>
              <a:t>The hackathon requires meaningful use of PayPal and AI. Submission materials need English or an English translation. The current delivery checklist records a cutoff of November 12, 2026 at 12:00 PST, or 20:00 Canary Islands time. Registration, personal eligibility and final submission still require completion. A final public YouTube demonstration under three minutes remains pending. This presentation does not submit the project or guarantee an award.</a:t>
            </a:r>
          </a:p>
          <a:p xmlns:a="http://schemas.openxmlformats.org/drawingml/2006/main">
            <a:r>
              <a:t/>
            </a:r>
          </a:p>
          <a:p xmlns:a="http://schemas.openxmlformats.org/drawingml/2006/main">
            <a:r>
              <a:t>Sources: current submission draft: https://github.com/Enrickq/asterion-commerce/blob/main/docs/SUBMISSION.md, architecture and field requirements: https://github.com/Enrickq/asterion-commerce/blob/main/docs/ARCHITECTURE.md, official hackathon rules: https://paypalaihackathon.devpost.com/rules, official event announcement: https://developer.paypal.com/community/blog/PayPal_AI_Hackathon/.</a:t>
            </a:r>
          </a:p>
          <a:p xmlns:a="http://schemas.openxmlformats.org/drawingml/2006/main">
            <a:r>
              <a:t/>
            </a:r>
          </a:p>
          <a:p xmlns:a="http://schemas.openxmlformats.org/drawingml/2006/main">
            <a:r>
              <a:t>## Presentation files</a:t>
            </a:r>
          </a:p>
          <a:p xmlns:a="http://schemas.openxmlformats.org/drawingml/2006/main">
            <a:r>
              <a:t/>
            </a:r>
          </a:p>
          <a:p xmlns:a="http://schemas.openxmlformats.org/drawingml/2006/main">
            <a:r>
              <a:t>The English PowerPoint: https://github.com/Enrickq/asterion-commerce/blob/main/docs/presentation/ASTERION-Pitch.en.pptx contains editable text and native tables, source references and presenter notes. This manuscript retains longer explanations for rehearsal. Keep the public/private scene transition, allocation arithmetic and environment disclosures intact when adapting it for a live pitch.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36215706b541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8b26f47e8046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5083aa01bf442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8b03ea6746435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97ee4a928840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093b86f07245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53A645-FA05-404C-86ED-4FBF25FF5E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A9B779-67BC-4EE3-AB6E-BA83C0E6B47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1B990B-64B6-41FB-826A-D65668C6EE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B00895-0F94-4D10-9C0A-0B7A601861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528AF0-8D02-4D6A-B63E-D15668FFB1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FBCBBF-99D1-4DF1-9B85-6B2078008F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C813AE-EE5F-4316-ADA6-40B39B4928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2FAE283-D439-4AE5-9914-04D440915A5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16DEFF-1DE3-4B5A-9EB9-CCD17494F2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6456B7-96D7-4EE3-922B-7A40766655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eea9e29a414927" /><Relationship Type="http://schemas.openxmlformats.org/officeDocument/2006/relationships/slideLayout" Target="/ppt/slideLayouts/slideLayout1.xml" Id="R29589fed2af5437f" /><Relationship Type="http://schemas.openxmlformats.org/officeDocument/2006/relationships/slideLayout" Target="/ppt/slideLayouts/slideLayout2.xml" Id="R399ccc0f073a4e1c" /><Relationship Type="http://schemas.openxmlformats.org/officeDocument/2006/relationships/slideLayout" Target="/ppt/slideLayouts/slideLayout3.xml" Id="R40a5fece023c4aba" /><Relationship Type="http://schemas.openxmlformats.org/officeDocument/2006/relationships/slideLayout" Target="/ppt/slideLayouts/slideLayout4.xml" Id="Ra4c75bc501af494e" /><Relationship Type="http://schemas.openxmlformats.org/officeDocument/2006/relationships/slideLayout" Target="/ppt/slideLayouts/slideLayout5.xml" Id="Re590f7b6162148e4" /><Relationship Type="http://schemas.openxmlformats.org/officeDocument/2006/relationships/slideLayout" Target="/ppt/slideLayouts/slideLayout6.xml" Id="R477d829a2df74a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589fed2af5437f"/>
    <p:sldLayoutId xmlns:r="http://schemas.openxmlformats.org/officeDocument/2006/relationships" id="2147483650" r:id="R399ccc0f073a4e1c"/>
    <p:sldLayoutId xmlns:r="http://schemas.openxmlformats.org/officeDocument/2006/relationships" id="2147483651" r:id="R40a5fece023c4aba"/>
    <p:sldLayoutId xmlns:r="http://schemas.openxmlformats.org/officeDocument/2006/relationships" id="2147483652" r:id="Ra4c75bc501af494e"/>
    <p:sldLayoutId xmlns:r="http://schemas.openxmlformats.org/officeDocument/2006/relationships" id="2147483653" r:id="Re590f7b6162148e4"/>
    <p:sldLayoutId xmlns:r="http://schemas.openxmlformats.org/officeDocument/2006/relationships" id="2147483654" r:id="R477d829a2df74a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b5f720732d04f29" /><Relationship Type="http://schemas.openxmlformats.org/officeDocument/2006/relationships/notesSlide" Target="/ppt/notesSlides/notesSlide1.xml" Id="Rc31a2d4303f345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e3e2372b0524179" /><Relationship Type="http://schemas.openxmlformats.org/officeDocument/2006/relationships/notesSlide" Target="/ppt/notesSlides/notesSlide2.xml" Id="Re460fe270e9243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08e33b9ba14999" /><Relationship Type="http://schemas.openxmlformats.org/officeDocument/2006/relationships/notesSlide" Target="/ppt/notesSlides/notesSlide3.xml" Id="R5e27e0631a174c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9be638943d4a4b" /><Relationship Type="http://schemas.openxmlformats.org/officeDocument/2006/relationships/notesSlide" Target="/ppt/notesSlides/notesSlide4.xml" Id="Rd6c578610aed4e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10c6e7082c48e0" /><Relationship Type="http://schemas.openxmlformats.org/officeDocument/2006/relationships/notesSlide" Target="/ppt/notesSlides/notesSlide5.xml" Id="R226400086ce449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599f3060407425c" /><Relationship Type="http://schemas.openxmlformats.org/officeDocument/2006/relationships/notesSlide" Target="/ppt/notesSlides/notesSlide6.xml" Id="R8bf3a8992bee48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79f66ddec0f4334" /><Relationship Type="http://schemas.openxmlformats.org/officeDocument/2006/relationships/notesSlide" Target="/ppt/notesSlides/notesSlide7.xml" Id="Rb4fff42f691b48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8ddd920fa864c26" /><Relationship Type="http://schemas.openxmlformats.org/officeDocument/2006/relationships/image" Target="/ppt/media/image.jpeg" Id="Re0115eaf9b2c459b" /><Relationship Type="http://schemas.openxmlformats.org/officeDocument/2006/relationships/notesSlide" Target="/ppt/notesSlides/notesSlide8.xml" Id="R538582b706994f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f5aace27ff74bf3" /><Relationship Type="http://schemas.openxmlformats.org/officeDocument/2006/relationships/notesSlide" Target="/ppt/notesSlides/notesSlide9.xml" Id="R8c4175d6d83641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c86c4b1e8154818" /><Relationship Type="http://schemas.openxmlformats.org/officeDocument/2006/relationships/notesSlide" Target="/ppt/notesSlides/notesSlide10.xml" Id="Rc83b6973113245ec" /></Relationships>
</file>

<file path=ppt/slides/slide1.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FF5D94D-B824-4C81-88F4-3791034BAC77}"/>
              </a:ext>
            </a:extLst>
          </p:cNvPr>
          <p:cNvSpPr>
            <a:spLocks xmlns:a="http://schemas.openxmlformats.org/drawingml/2006/main" noGrp="1"/>
          </p:cNvSpPr>
          <p:nvPr/>
        </p:nvSpPr>
        <p:spPr>
          <a:xfrm xmlns:a="http://schemas.openxmlformats.org/drawingml/2006/main">
            <a:off x="609600" y="1762125"/>
            <a:ext cx="109728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400" b="1">
                <a:solidFill>
                  <a:srgbClr val="EFF5F1"/>
                </a:solidFill>
                <a:latin typeface="Arial"/>
                <a:ea typeface="Arial"/>
                <a:cs typeface="Arial"/>
              </a:defRPr>
            </a:defPPr>
            <a:lvl1pPr>
              <a:defRPr sz="8400" b="1">
                <a:solidFill>
                  <a:srgbClr val="EFF5F1"/>
                </a:solidFill>
                <a:latin typeface="Arial"/>
                <a:ea typeface="Arial"/>
                <a:cs typeface="Arial"/>
              </a:defRPr>
            </a:lvl1pPr>
            <a:lvl2pPr>
              <a:defRPr sz="8400" b="1">
                <a:solidFill>
                  <a:srgbClr val="EFF5F1"/>
                </a:solidFill>
                <a:latin typeface="Arial"/>
                <a:ea typeface="Arial"/>
                <a:cs typeface="Arial"/>
              </a:defRPr>
            </a:lvl2pPr>
            <a:lvl3pPr>
              <a:defRPr sz="8400" b="1">
                <a:solidFill>
                  <a:srgbClr val="EFF5F1"/>
                </a:solidFill>
                <a:latin typeface="Arial"/>
                <a:ea typeface="Arial"/>
                <a:cs typeface="Arial"/>
              </a:defRPr>
            </a:lvl3pPr>
            <a:lvl4pPr>
              <a:defRPr sz="8400" b="1">
                <a:solidFill>
                  <a:srgbClr val="EFF5F1"/>
                </a:solidFill>
                <a:latin typeface="Arial"/>
                <a:ea typeface="Arial"/>
                <a:cs typeface="Arial"/>
              </a:defRPr>
            </a:lvl4pPr>
            <a:lvl5pPr>
              <a:defRPr sz="8400" b="1">
                <a:solidFill>
                  <a:srgbClr val="EFF5F1"/>
                </a:solidFill>
                <a:latin typeface="Arial"/>
                <a:ea typeface="Arial"/>
                <a:cs typeface="Arial"/>
              </a:defRPr>
            </a:lvl5pPr>
            <a:lvl6pPr>
              <a:defRPr sz="8400" b="1">
                <a:solidFill>
                  <a:srgbClr val="EFF5F1"/>
                </a:solidFill>
                <a:latin typeface="Arial"/>
                <a:ea typeface="Arial"/>
                <a:cs typeface="Arial"/>
              </a:defRPr>
            </a:lvl6pPr>
            <a:lvl7pPr>
              <a:defRPr sz="8400" b="1">
                <a:solidFill>
                  <a:srgbClr val="EFF5F1"/>
                </a:solidFill>
                <a:latin typeface="Arial"/>
                <a:ea typeface="Arial"/>
                <a:cs typeface="Arial"/>
              </a:defRPr>
            </a:lvl7pPr>
            <a:lvl8pPr>
              <a:defRPr sz="8400" b="1">
                <a:solidFill>
                  <a:srgbClr val="EFF5F1"/>
                </a:solidFill>
                <a:latin typeface="Arial"/>
                <a:ea typeface="Arial"/>
                <a:cs typeface="Arial"/>
              </a:defRPr>
            </a:lvl8pPr>
            <a:lvl9pPr>
              <a:defRPr sz="8400" b="1">
                <a:solidFill>
                  <a:srgbClr val="EFF5F1"/>
                </a:solidFill>
                <a:latin typeface="Arial"/>
                <a:ea typeface="Arial"/>
                <a:cs typeface="Arial"/>
              </a:defRPr>
            </a:lvl9pPr>
          </a:lstStyle>
          <a:p xmlns:a="http://schemas.openxmlformats.org/drawingml/2006/main">
            <a:pPr>
              <a:defRPr sz="8400" b="1">
                <a:solidFill>
                  <a:srgbClr val="EFF5F1"/>
                </a:solidFill>
                <a:latin typeface="Arial"/>
                <a:ea typeface="Arial"/>
                <a:cs typeface="Arial"/>
              </a:defRPr>
            </a:pPr>
            <a:r>
              <a:rPr sz="8400" b="1">
                <a:solidFill>
                  <a:srgbClr val="EFF5F1"/>
                </a:solidFill>
                <a:latin typeface="Arial"/>
                <a:ea typeface="Arial"/>
                <a:cs typeface="Arial"/>
              </a:rPr>
              <a:t>ASTERION</a:t>
            </a:r>
          </a:p>
        </p:txBody>
      </p:sp>
      <p:sp>
        <p:nvSpPr>
          <p:cNvPr id="2" name="page">
            <a:extLst xmlns:a="http://schemas.openxmlformats.org/drawingml/2006/main">
              <a:ext uri="{FF2B5EF4-FFF2-40B4-BE49-F238E27FC236}">
                <a16:creationId xmlns:a16="http://schemas.microsoft.com/office/drawing/2014/main" id="{6E661301-6DC9-4F88-9661-504048C08B20}"/>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defRPr sz="1200" b="0">
                <a:solidFill>
                  <a:srgbClr val="A6BAC1"/>
                </a:solidFill>
                <a:latin typeface="Arial"/>
                <a:ea typeface="Arial"/>
                <a:cs typeface="Arial"/>
              </a:defRPr>
            </a:lvl1pPr>
            <a:lvl2pPr>
              <a:defRPr sz="1200" b="0">
                <a:solidFill>
                  <a:srgbClr val="A6BAC1"/>
                </a:solidFill>
                <a:latin typeface="Arial"/>
                <a:ea typeface="Arial"/>
                <a:cs typeface="Arial"/>
              </a:defRPr>
            </a:lvl2pPr>
            <a:lvl3pPr>
              <a:defRPr sz="1200" b="0">
                <a:solidFill>
                  <a:srgbClr val="A6BAC1"/>
                </a:solidFill>
                <a:latin typeface="Arial"/>
                <a:ea typeface="Arial"/>
                <a:cs typeface="Arial"/>
              </a:defRPr>
            </a:lvl3pPr>
            <a:lvl4pPr>
              <a:defRPr sz="1200" b="0">
                <a:solidFill>
                  <a:srgbClr val="A6BAC1"/>
                </a:solidFill>
                <a:latin typeface="Arial"/>
                <a:ea typeface="Arial"/>
                <a:cs typeface="Arial"/>
              </a:defRPr>
            </a:lvl4pPr>
            <a:lvl5pPr>
              <a:defRPr sz="1200" b="0">
                <a:solidFill>
                  <a:srgbClr val="A6BAC1"/>
                </a:solidFill>
                <a:latin typeface="Arial"/>
                <a:ea typeface="Arial"/>
                <a:cs typeface="Arial"/>
              </a:defRPr>
            </a:lvl5pPr>
            <a:lvl6pPr>
              <a:defRPr sz="1200" b="0">
                <a:solidFill>
                  <a:srgbClr val="A6BAC1"/>
                </a:solidFill>
                <a:latin typeface="Arial"/>
                <a:ea typeface="Arial"/>
                <a:cs typeface="Arial"/>
              </a:defRPr>
            </a:lvl6pPr>
            <a:lvl7pPr>
              <a:defRPr sz="1200" b="0">
                <a:solidFill>
                  <a:srgbClr val="A6BAC1"/>
                </a:solidFill>
                <a:latin typeface="Arial"/>
                <a:ea typeface="Arial"/>
                <a:cs typeface="Arial"/>
              </a:defRPr>
            </a:lvl7pPr>
            <a:lvl8pPr>
              <a:defRPr sz="1200" b="0">
                <a:solidFill>
                  <a:srgbClr val="A6BAC1"/>
                </a:solidFill>
                <a:latin typeface="Arial"/>
                <a:ea typeface="Arial"/>
                <a:cs typeface="Arial"/>
              </a:defRPr>
            </a:lvl8pPr>
            <a:lvl9pPr>
              <a:defRPr sz="1200" b="0">
                <a:solidFill>
                  <a:srgbClr val="A6BAC1"/>
                </a:solidFill>
                <a:latin typeface="Arial"/>
                <a:ea typeface="Arial"/>
                <a:cs typeface="Arial"/>
              </a:defRPr>
            </a:lvl9pPr>
          </a:lstStyle>
          <a:p xmlns:a="http://schemas.openxmlformats.org/drawingml/2006/main">
            <a:pPr>
              <a:defRPr sz="1200" b="0">
                <a:solidFill>
                  <a:srgbClr val="A6BAC1"/>
                </a:solidFill>
                <a:latin typeface="Arial"/>
                <a:ea typeface="Arial"/>
                <a:cs typeface="Arial"/>
              </a:defRPr>
            </a:pPr>
            <a:r>
              <a:rPr sz="1200" b="0">
                <a:solidFill>
                  <a:srgbClr val="A6BAC1"/>
                </a:solidFill>
                <a:latin typeface="Arial"/>
                <a:ea typeface="Arial"/>
                <a:cs typeface="Arial"/>
              </a:rPr>
              <a:t>01 / 10</a:t>
            </a:r>
          </a:p>
        </p:txBody>
      </p:sp>
      <p:sp>
        <p:nvSpPr>
          <p:cNvPr id="3" name="slogan">
            <a:extLst xmlns:a="http://schemas.openxmlformats.org/drawingml/2006/main">
              <a:ext uri="{FF2B5EF4-FFF2-40B4-BE49-F238E27FC236}">
                <a16:creationId xmlns:a16="http://schemas.microsoft.com/office/drawing/2014/main" id="{36ADB71C-9D61-4D71-9B9C-4B4D38326948}"/>
              </a:ext>
            </a:extLst>
          </p:cNvPr>
          <p:cNvSpPr>
            <a:spLocks xmlns:a="http://schemas.openxmlformats.org/drawingml/2006/main" noGrp="1"/>
          </p:cNvSpPr>
          <p:nvPr/>
        </p:nvSpPr>
        <p:spPr>
          <a:xfrm xmlns:a="http://schemas.openxmlformats.org/drawingml/2006/main">
            <a:off x="666750" y="324802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0">
                <a:solidFill>
                  <a:srgbClr val="A4E3C3"/>
                </a:solidFill>
                <a:latin typeface="Arial"/>
                <a:ea typeface="Arial"/>
                <a:cs typeface="Arial"/>
              </a:defRPr>
            </a:defPPr>
            <a:lvl1pPr>
              <a:defRPr sz="3600" b="0">
                <a:solidFill>
                  <a:srgbClr val="A4E3C3"/>
                </a:solidFill>
                <a:latin typeface="Arial"/>
                <a:ea typeface="Arial"/>
                <a:cs typeface="Arial"/>
              </a:defRPr>
            </a:lvl1pPr>
            <a:lvl2pPr>
              <a:defRPr sz="3600" b="0">
                <a:solidFill>
                  <a:srgbClr val="A4E3C3"/>
                </a:solidFill>
                <a:latin typeface="Arial"/>
                <a:ea typeface="Arial"/>
                <a:cs typeface="Arial"/>
              </a:defRPr>
            </a:lvl2pPr>
            <a:lvl3pPr>
              <a:defRPr sz="3600" b="0">
                <a:solidFill>
                  <a:srgbClr val="A4E3C3"/>
                </a:solidFill>
                <a:latin typeface="Arial"/>
                <a:ea typeface="Arial"/>
                <a:cs typeface="Arial"/>
              </a:defRPr>
            </a:lvl3pPr>
            <a:lvl4pPr>
              <a:defRPr sz="3600" b="0">
                <a:solidFill>
                  <a:srgbClr val="A4E3C3"/>
                </a:solidFill>
                <a:latin typeface="Arial"/>
                <a:ea typeface="Arial"/>
                <a:cs typeface="Arial"/>
              </a:defRPr>
            </a:lvl4pPr>
            <a:lvl5pPr>
              <a:defRPr sz="3600" b="0">
                <a:solidFill>
                  <a:srgbClr val="A4E3C3"/>
                </a:solidFill>
                <a:latin typeface="Arial"/>
                <a:ea typeface="Arial"/>
                <a:cs typeface="Arial"/>
              </a:defRPr>
            </a:lvl5pPr>
            <a:lvl6pPr>
              <a:defRPr sz="3600" b="0">
                <a:solidFill>
                  <a:srgbClr val="A4E3C3"/>
                </a:solidFill>
                <a:latin typeface="Arial"/>
                <a:ea typeface="Arial"/>
                <a:cs typeface="Arial"/>
              </a:defRPr>
            </a:lvl6pPr>
            <a:lvl7pPr>
              <a:defRPr sz="3600" b="0">
                <a:solidFill>
                  <a:srgbClr val="A4E3C3"/>
                </a:solidFill>
                <a:latin typeface="Arial"/>
                <a:ea typeface="Arial"/>
                <a:cs typeface="Arial"/>
              </a:defRPr>
            </a:lvl7pPr>
            <a:lvl8pPr>
              <a:defRPr sz="3600" b="0">
                <a:solidFill>
                  <a:srgbClr val="A4E3C3"/>
                </a:solidFill>
                <a:latin typeface="Arial"/>
                <a:ea typeface="Arial"/>
                <a:cs typeface="Arial"/>
              </a:defRPr>
            </a:lvl8pPr>
            <a:lvl9pPr>
              <a:defRPr sz="3600" b="0">
                <a:solidFill>
                  <a:srgbClr val="A4E3C3"/>
                </a:solidFill>
                <a:latin typeface="Arial"/>
                <a:ea typeface="Arial"/>
                <a:cs typeface="Arial"/>
              </a:defRPr>
            </a:lvl9pPr>
          </a:lstStyle>
          <a:p xmlns:a="http://schemas.openxmlformats.org/drawingml/2006/main">
            <a:pPr>
              <a:defRPr sz="3600" b="0">
                <a:solidFill>
                  <a:srgbClr val="A4E3C3"/>
                </a:solidFill>
                <a:latin typeface="Arial"/>
                <a:ea typeface="Arial"/>
                <a:cs typeface="Arial"/>
              </a:defRPr>
            </a:pPr>
            <a:r>
              <a:rPr sz="3600" b="0">
                <a:solidFill>
                  <a:srgbClr val="A4E3C3"/>
                </a:solidFill>
                <a:latin typeface="Arial"/>
                <a:ea typeface="Arial"/>
                <a:cs typeface="Arial"/>
              </a:rPr>
              <a:t>Intent. Evidence. Payment.</a:t>
            </a:r>
          </a:p>
        </p:txBody>
      </p:sp>
      <p:sp>
        <p:nvSpPr>
          <p:cNvPr id="4" name="cover-line">
            <a:extLst xmlns:a="http://schemas.openxmlformats.org/drawingml/2006/main">
              <a:ext uri="{FF2B5EF4-FFF2-40B4-BE49-F238E27FC236}">
                <a16:creationId xmlns:a16="http://schemas.microsoft.com/office/drawing/2014/main" id="{0C50BD87-6118-4C7C-96B6-8283811CECDF}"/>
              </a:ext>
            </a:extLst>
          </p:cNvPr>
          <p:cNvSpPr>
            <a:spLocks xmlns:a="http://schemas.openxmlformats.org/drawingml/2006/main" noGrp="1"/>
          </p:cNvSpPr>
          <p:nvPr/>
        </p:nvSpPr>
        <p:spPr>
          <a:xfrm xmlns:a="http://schemas.openxmlformats.org/drawingml/2006/main">
            <a:off x="666750" y="4410075"/>
            <a:ext cx="1038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A6BAC1"/>
                </a:solidFill>
                <a:latin typeface="Arial"/>
                <a:ea typeface="Arial"/>
                <a:cs typeface="Arial"/>
              </a:defRPr>
            </a:defPPr>
            <a:lvl1pPr>
              <a:defRPr sz="2400" b="0">
                <a:solidFill>
                  <a:srgbClr val="A6BAC1"/>
                </a:solidFill>
                <a:latin typeface="Arial"/>
                <a:ea typeface="Arial"/>
                <a:cs typeface="Arial"/>
              </a:defRPr>
            </a:lvl1pPr>
            <a:lvl2pPr>
              <a:defRPr sz="2400" b="0">
                <a:solidFill>
                  <a:srgbClr val="A6BAC1"/>
                </a:solidFill>
                <a:latin typeface="Arial"/>
                <a:ea typeface="Arial"/>
                <a:cs typeface="Arial"/>
              </a:defRPr>
            </a:lvl2pPr>
            <a:lvl3pPr>
              <a:defRPr sz="2400" b="0">
                <a:solidFill>
                  <a:srgbClr val="A6BAC1"/>
                </a:solidFill>
                <a:latin typeface="Arial"/>
                <a:ea typeface="Arial"/>
                <a:cs typeface="Arial"/>
              </a:defRPr>
            </a:lvl3pPr>
            <a:lvl4pPr>
              <a:defRPr sz="2400" b="0">
                <a:solidFill>
                  <a:srgbClr val="A6BAC1"/>
                </a:solidFill>
                <a:latin typeface="Arial"/>
                <a:ea typeface="Arial"/>
                <a:cs typeface="Arial"/>
              </a:defRPr>
            </a:lvl4pPr>
            <a:lvl5pPr>
              <a:defRPr sz="2400" b="0">
                <a:solidFill>
                  <a:srgbClr val="A6BAC1"/>
                </a:solidFill>
                <a:latin typeface="Arial"/>
                <a:ea typeface="Arial"/>
                <a:cs typeface="Arial"/>
              </a:defRPr>
            </a:lvl5pPr>
            <a:lvl6pPr>
              <a:defRPr sz="2400" b="0">
                <a:solidFill>
                  <a:srgbClr val="A6BAC1"/>
                </a:solidFill>
                <a:latin typeface="Arial"/>
                <a:ea typeface="Arial"/>
                <a:cs typeface="Arial"/>
              </a:defRPr>
            </a:lvl6pPr>
            <a:lvl7pPr>
              <a:defRPr sz="2400" b="0">
                <a:solidFill>
                  <a:srgbClr val="A6BAC1"/>
                </a:solidFill>
                <a:latin typeface="Arial"/>
                <a:ea typeface="Arial"/>
                <a:cs typeface="Arial"/>
              </a:defRPr>
            </a:lvl7pPr>
            <a:lvl8pPr>
              <a:defRPr sz="2400" b="0">
                <a:solidFill>
                  <a:srgbClr val="A6BAC1"/>
                </a:solidFill>
                <a:latin typeface="Arial"/>
                <a:ea typeface="Arial"/>
                <a:cs typeface="Arial"/>
              </a:defRPr>
            </a:lvl8pPr>
            <a:lvl9pPr>
              <a:defRPr sz="2400" b="0">
                <a:solidFill>
                  <a:srgbClr val="A6BAC1"/>
                </a:solidFill>
                <a:latin typeface="Arial"/>
                <a:ea typeface="Arial"/>
                <a:cs typeface="Arial"/>
              </a:defRPr>
            </a:lvl9pPr>
          </a:lstStyle>
          <a:p xmlns:a="http://schemas.openxmlformats.org/drawingml/2006/main">
            <a:pPr>
              <a:defRPr sz="2400" b="0">
                <a:solidFill>
                  <a:srgbClr val="A6BAC1"/>
                </a:solidFill>
                <a:latin typeface="Arial"/>
                <a:ea typeface="Arial"/>
                <a:cs typeface="Arial"/>
              </a:defRPr>
            </a:pPr>
            <a:r>
              <a:rPr sz="2400" b="0">
                <a:solidFill>
                  <a:srgbClr val="A6BAC1"/>
                </a:solidFill>
                <a:latin typeface="Arial"/>
                <a:ea typeface="Arial"/>
                <a:cs typeface="Arial"/>
              </a:rPr>
              <a:t>Agent commerce with a customer-approved spending mandate</a:t>
            </a:r>
          </a:p>
        </p:txBody>
      </p:sp>
      <p:sp>
        <p:nvSpPr>
          <p:cNvPr id="5" name="event">
            <a:extLst xmlns:a="http://schemas.openxmlformats.org/drawingml/2006/main">
              <a:ext uri="{FF2B5EF4-FFF2-40B4-BE49-F238E27FC236}">
                <a16:creationId xmlns:a16="http://schemas.microsoft.com/office/drawing/2014/main" id="{F9F814AF-2858-42FA-9BFA-AA1C36C81646}"/>
              </a:ext>
            </a:extLst>
          </p:cNvPr>
          <p:cNvSpPr>
            <a:spLocks xmlns:a="http://schemas.openxmlformats.org/drawingml/2006/main" noGrp="1"/>
          </p:cNvSpPr>
          <p:nvPr/>
        </p:nvSpPr>
        <p:spPr>
          <a:xfrm xmlns:a="http://schemas.openxmlformats.org/drawingml/2006/main">
            <a:off x="666750" y="666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A4E3C3"/>
                </a:solidFill>
                <a:latin typeface="Arial"/>
                <a:ea typeface="Arial"/>
                <a:cs typeface="Arial"/>
              </a:defRPr>
            </a:defPPr>
            <a:lvl1pPr>
              <a:defRPr sz="1800" b="1">
                <a:solidFill>
                  <a:srgbClr val="A4E3C3"/>
                </a:solidFill>
                <a:latin typeface="Arial"/>
                <a:ea typeface="Arial"/>
                <a:cs typeface="Arial"/>
              </a:defRPr>
            </a:lvl1pPr>
            <a:lvl2pPr>
              <a:defRPr sz="1800" b="1">
                <a:solidFill>
                  <a:srgbClr val="A4E3C3"/>
                </a:solidFill>
                <a:latin typeface="Arial"/>
                <a:ea typeface="Arial"/>
                <a:cs typeface="Arial"/>
              </a:defRPr>
            </a:lvl2pPr>
            <a:lvl3pPr>
              <a:defRPr sz="1800" b="1">
                <a:solidFill>
                  <a:srgbClr val="A4E3C3"/>
                </a:solidFill>
                <a:latin typeface="Arial"/>
                <a:ea typeface="Arial"/>
                <a:cs typeface="Arial"/>
              </a:defRPr>
            </a:lvl3pPr>
            <a:lvl4pPr>
              <a:defRPr sz="1800" b="1">
                <a:solidFill>
                  <a:srgbClr val="A4E3C3"/>
                </a:solidFill>
                <a:latin typeface="Arial"/>
                <a:ea typeface="Arial"/>
                <a:cs typeface="Arial"/>
              </a:defRPr>
            </a:lvl4pPr>
            <a:lvl5pPr>
              <a:defRPr sz="1800" b="1">
                <a:solidFill>
                  <a:srgbClr val="A4E3C3"/>
                </a:solidFill>
                <a:latin typeface="Arial"/>
                <a:ea typeface="Arial"/>
                <a:cs typeface="Arial"/>
              </a:defRPr>
            </a:lvl5pPr>
            <a:lvl6pPr>
              <a:defRPr sz="1800" b="1">
                <a:solidFill>
                  <a:srgbClr val="A4E3C3"/>
                </a:solidFill>
                <a:latin typeface="Arial"/>
                <a:ea typeface="Arial"/>
                <a:cs typeface="Arial"/>
              </a:defRPr>
            </a:lvl6pPr>
            <a:lvl7pPr>
              <a:defRPr sz="1800" b="1">
                <a:solidFill>
                  <a:srgbClr val="A4E3C3"/>
                </a:solidFill>
                <a:latin typeface="Arial"/>
                <a:ea typeface="Arial"/>
                <a:cs typeface="Arial"/>
              </a:defRPr>
            </a:lvl7pPr>
            <a:lvl8pPr>
              <a:defRPr sz="1800" b="1">
                <a:solidFill>
                  <a:srgbClr val="A4E3C3"/>
                </a:solidFill>
                <a:latin typeface="Arial"/>
                <a:ea typeface="Arial"/>
                <a:cs typeface="Arial"/>
              </a:defRPr>
            </a:lvl8pPr>
            <a:lvl9pPr>
              <a:defRPr sz="1800" b="1">
                <a:solidFill>
                  <a:srgbClr val="A4E3C3"/>
                </a:solidFill>
                <a:latin typeface="Arial"/>
                <a:ea typeface="Arial"/>
                <a:cs typeface="Arial"/>
              </a:defRPr>
            </a:lvl9pPr>
          </a:lstStyle>
          <a:p xmlns:a="http://schemas.openxmlformats.org/drawingml/2006/main">
            <a:pPr>
              <a:defRPr sz="1800" b="1">
                <a:solidFill>
                  <a:srgbClr val="A4E3C3"/>
                </a:solidFill>
                <a:latin typeface="Arial"/>
                <a:ea typeface="Arial"/>
                <a:cs typeface="Arial"/>
              </a:defRPr>
            </a:pPr>
            <a:r>
              <a:rPr sz="1800" b="1">
                <a:solidFill>
                  <a:srgbClr val="A4E3C3"/>
                </a:solidFill>
                <a:latin typeface="Arial"/>
                <a:ea typeface="Arial"/>
                <a:cs typeface="Arial"/>
              </a:rPr>
              <a:t>PayPal AI Hackathon 2026</a:t>
            </a:r>
          </a:p>
        </p:txBody>
      </p:sp>
      <p:sp>
        <p:nvSpPr>
          <p:cNvPr id="6" name="disclosure">
            <a:extLst xmlns:a="http://schemas.openxmlformats.org/drawingml/2006/main">
              <a:ext uri="{FF2B5EF4-FFF2-40B4-BE49-F238E27FC236}">
                <a16:creationId xmlns:a16="http://schemas.microsoft.com/office/drawing/2014/main" id="{70CABC1D-8C9B-4195-AC17-A4936E8C445C}"/>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defRPr sz="1425" b="0">
                <a:solidFill>
                  <a:srgbClr val="A6BAC1"/>
                </a:solidFill>
                <a:latin typeface="Arial"/>
                <a:ea typeface="Arial"/>
                <a:cs typeface="Arial"/>
              </a:defRPr>
            </a:lvl1pPr>
            <a:lvl2pPr>
              <a:defRPr sz="1425" b="0">
                <a:solidFill>
                  <a:srgbClr val="A6BAC1"/>
                </a:solidFill>
                <a:latin typeface="Arial"/>
                <a:ea typeface="Arial"/>
                <a:cs typeface="Arial"/>
              </a:defRPr>
            </a:lvl2pPr>
            <a:lvl3pPr>
              <a:defRPr sz="1425" b="0">
                <a:solidFill>
                  <a:srgbClr val="A6BAC1"/>
                </a:solidFill>
                <a:latin typeface="Arial"/>
                <a:ea typeface="Arial"/>
                <a:cs typeface="Arial"/>
              </a:defRPr>
            </a:lvl3pPr>
            <a:lvl4pPr>
              <a:defRPr sz="1425" b="0">
                <a:solidFill>
                  <a:srgbClr val="A6BAC1"/>
                </a:solidFill>
                <a:latin typeface="Arial"/>
                <a:ea typeface="Arial"/>
                <a:cs typeface="Arial"/>
              </a:defRPr>
            </a:lvl4pPr>
            <a:lvl5pPr>
              <a:defRPr sz="1425" b="0">
                <a:solidFill>
                  <a:srgbClr val="A6BAC1"/>
                </a:solidFill>
                <a:latin typeface="Arial"/>
                <a:ea typeface="Arial"/>
                <a:cs typeface="Arial"/>
              </a:defRPr>
            </a:lvl5pPr>
            <a:lvl6pPr>
              <a:defRPr sz="1425" b="0">
                <a:solidFill>
                  <a:srgbClr val="A6BAC1"/>
                </a:solidFill>
                <a:latin typeface="Arial"/>
                <a:ea typeface="Arial"/>
                <a:cs typeface="Arial"/>
              </a:defRPr>
            </a:lvl6pPr>
            <a:lvl7pPr>
              <a:defRPr sz="1425" b="0">
                <a:solidFill>
                  <a:srgbClr val="A6BAC1"/>
                </a:solidFill>
                <a:latin typeface="Arial"/>
                <a:ea typeface="Arial"/>
                <a:cs typeface="Arial"/>
              </a:defRPr>
            </a:lvl7pPr>
            <a:lvl8pPr>
              <a:defRPr sz="1425" b="0">
                <a:solidFill>
                  <a:srgbClr val="A6BAC1"/>
                </a:solidFill>
                <a:latin typeface="Arial"/>
                <a:ea typeface="Arial"/>
                <a:cs typeface="Arial"/>
              </a:defRPr>
            </a:lvl8pPr>
            <a:lvl9pPr>
              <a:defRPr sz="1425" b="0">
                <a:solidFill>
                  <a:srgbClr val="A6BAC1"/>
                </a:solidFill>
                <a:latin typeface="Arial"/>
                <a:ea typeface="Arial"/>
                <a:cs typeface="Arial"/>
              </a:defRPr>
            </a:lvl9pPr>
          </a:lstStyle>
          <a:p xmlns:a="http://schemas.openxmlformats.org/drawingml/2006/main">
            <a:pPr>
              <a:defRPr sz="1425" b="0">
                <a:solidFill>
                  <a:srgbClr val="A6BAC1"/>
                </a:solidFill>
                <a:latin typeface="Arial"/>
                <a:ea typeface="Arial"/>
                <a:cs typeface="Arial"/>
              </a:defRPr>
            </a:pPr>
            <a:r>
              <a:rPr sz="1425" b="0">
                <a:solidFill>
                  <a:srgbClr val="A6BAC1"/>
                </a:solidFill>
                <a:latin typeface="Arial"/>
                <a:ea typeface="Arial"/>
                <a:cs typeface="Arial"/>
              </a:rPr>
              <a:t>La Palma, Canary Islands. Verified private AI + PayPal Sandbox prototype.</a:t>
            </a:r>
          </a:p>
        </p:txBody>
      </p:sp>
    </p:spTree>
    <p:extLst>
      <p:ext uri="{BB962C8B-B14F-4D97-AF65-F5344CB8AC3E}">
        <p14:creationId xmlns:p14="http://schemas.microsoft.com/office/powerpoint/2010/main" val="1411923978"/>
      </p:ext>
    </p:extLst>
  </p:cSld>
</p:sld>
</file>

<file path=ppt/slides/slide2.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EE8202F-980E-4044-ABF7-14FFE7CF8211}"/>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defRPr sz="3600" b="1">
                <a:solidFill>
                  <a:srgbClr val="EFF5F1"/>
                </a:solidFill>
                <a:latin typeface="Arial"/>
                <a:ea typeface="Arial"/>
                <a:cs typeface="Arial"/>
              </a:defRPr>
            </a:lvl1pPr>
            <a:lvl2pPr>
              <a:defRPr sz="3600" b="1">
                <a:solidFill>
                  <a:srgbClr val="EFF5F1"/>
                </a:solidFill>
                <a:latin typeface="Arial"/>
                <a:ea typeface="Arial"/>
                <a:cs typeface="Arial"/>
              </a:defRPr>
            </a:lvl2pPr>
            <a:lvl3pPr>
              <a:defRPr sz="3600" b="1">
                <a:solidFill>
                  <a:srgbClr val="EFF5F1"/>
                </a:solidFill>
                <a:latin typeface="Arial"/>
                <a:ea typeface="Arial"/>
                <a:cs typeface="Arial"/>
              </a:defRPr>
            </a:lvl3pPr>
            <a:lvl4pPr>
              <a:defRPr sz="3600" b="1">
                <a:solidFill>
                  <a:srgbClr val="EFF5F1"/>
                </a:solidFill>
                <a:latin typeface="Arial"/>
                <a:ea typeface="Arial"/>
                <a:cs typeface="Arial"/>
              </a:defRPr>
            </a:lvl4pPr>
            <a:lvl5pPr>
              <a:defRPr sz="3600" b="1">
                <a:solidFill>
                  <a:srgbClr val="EFF5F1"/>
                </a:solidFill>
                <a:latin typeface="Arial"/>
                <a:ea typeface="Arial"/>
                <a:cs typeface="Arial"/>
              </a:defRPr>
            </a:lvl5pPr>
            <a:lvl6pPr>
              <a:defRPr sz="3600" b="1">
                <a:solidFill>
                  <a:srgbClr val="EFF5F1"/>
                </a:solidFill>
                <a:latin typeface="Arial"/>
                <a:ea typeface="Arial"/>
                <a:cs typeface="Arial"/>
              </a:defRPr>
            </a:lvl6pPr>
            <a:lvl7pPr>
              <a:defRPr sz="3600" b="1">
                <a:solidFill>
                  <a:srgbClr val="EFF5F1"/>
                </a:solidFill>
                <a:latin typeface="Arial"/>
                <a:ea typeface="Arial"/>
                <a:cs typeface="Arial"/>
              </a:defRPr>
            </a:lvl7pPr>
            <a:lvl8pPr>
              <a:defRPr sz="3600" b="1">
                <a:solidFill>
                  <a:srgbClr val="EFF5F1"/>
                </a:solidFill>
                <a:latin typeface="Arial"/>
                <a:ea typeface="Arial"/>
                <a:cs typeface="Arial"/>
              </a:defRPr>
            </a:lvl8pPr>
            <a:lvl9pPr>
              <a:defRPr sz="3600" b="1">
                <a:solidFill>
                  <a:srgbClr val="EFF5F1"/>
                </a:solidFill>
                <a:latin typeface="Arial"/>
                <a:ea typeface="Arial"/>
                <a:cs typeface="Arial"/>
              </a:defRPr>
            </a:lvl9pPr>
          </a:lstStyle>
          <a:p xmlns:a="http://schemas.openxmlformats.org/drawingml/2006/main">
            <a:pPr>
              <a:defRPr sz="3600" b="1">
                <a:solidFill>
                  <a:srgbClr val="EFF5F1"/>
                </a:solidFill>
                <a:latin typeface="Arial"/>
                <a:ea typeface="Arial"/>
                <a:cs typeface="Arial"/>
              </a:defRPr>
            </a:pPr>
            <a:r>
              <a:rPr sz="3600" b="1">
                <a:solidFill>
                  <a:srgbClr val="EFF5F1"/>
                </a:solidFill>
                <a:latin typeface="Arial"/>
                <a:ea typeface="Arial"/>
                <a:cs typeface="Arial"/>
              </a:rPr>
              <a:t>The mandate as the unit of commerce</a:t>
            </a:r>
          </a:p>
        </p:txBody>
      </p:sp>
      <p:sp>
        <p:nvSpPr>
          <p:cNvPr id="2" name="page">
            <a:extLst xmlns:a="http://schemas.openxmlformats.org/drawingml/2006/main">
              <a:ext uri="{FF2B5EF4-FFF2-40B4-BE49-F238E27FC236}">
                <a16:creationId xmlns:a16="http://schemas.microsoft.com/office/drawing/2014/main" id="{75D4C217-911C-4689-8784-5E0BCBCE0F47}"/>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defRPr sz="1200" b="0">
                <a:solidFill>
                  <a:srgbClr val="A6BAC1"/>
                </a:solidFill>
                <a:latin typeface="Arial"/>
                <a:ea typeface="Arial"/>
                <a:cs typeface="Arial"/>
              </a:defRPr>
            </a:lvl1pPr>
            <a:lvl2pPr>
              <a:defRPr sz="1200" b="0">
                <a:solidFill>
                  <a:srgbClr val="A6BAC1"/>
                </a:solidFill>
                <a:latin typeface="Arial"/>
                <a:ea typeface="Arial"/>
                <a:cs typeface="Arial"/>
              </a:defRPr>
            </a:lvl2pPr>
            <a:lvl3pPr>
              <a:defRPr sz="1200" b="0">
                <a:solidFill>
                  <a:srgbClr val="A6BAC1"/>
                </a:solidFill>
                <a:latin typeface="Arial"/>
                <a:ea typeface="Arial"/>
                <a:cs typeface="Arial"/>
              </a:defRPr>
            </a:lvl3pPr>
            <a:lvl4pPr>
              <a:defRPr sz="1200" b="0">
                <a:solidFill>
                  <a:srgbClr val="A6BAC1"/>
                </a:solidFill>
                <a:latin typeface="Arial"/>
                <a:ea typeface="Arial"/>
                <a:cs typeface="Arial"/>
              </a:defRPr>
            </a:lvl4pPr>
            <a:lvl5pPr>
              <a:defRPr sz="1200" b="0">
                <a:solidFill>
                  <a:srgbClr val="A6BAC1"/>
                </a:solidFill>
                <a:latin typeface="Arial"/>
                <a:ea typeface="Arial"/>
                <a:cs typeface="Arial"/>
              </a:defRPr>
            </a:lvl5pPr>
            <a:lvl6pPr>
              <a:defRPr sz="1200" b="0">
                <a:solidFill>
                  <a:srgbClr val="A6BAC1"/>
                </a:solidFill>
                <a:latin typeface="Arial"/>
                <a:ea typeface="Arial"/>
                <a:cs typeface="Arial"/>
              </a:defRPr>
            </a:lvl6pPr>
            <a:lvl7pPr>
              <a:defRPr sz="1200" b="0">
                <a:solidFill>
                  <a:srgbClr val="A6BAC1"/>
                </a:solidFill>
                <a:latin typeface="Arial"/>
                <a:ea typeface="Arial"/>
                <a:cs typeface="Arial"/>
              </a:defRPr>
            </a:lvl7pPr>
            <a:lvl8pPr>
              <a:defRPr sz="1200" b="0">
                <a:solidFill>
                  <a:srgbClr val="A6BAC1"/>
                </a:solidFill>
                <a:latin typeface="Arial"/>
                <a:ea typeface="Arial"/>
                <a:cs typeface="Arial"/>
              </a:defRPr>
            </a:lvl8pPr>
            <a:lvl9pPr>
              <a:defRPr sz="1200" b="0">
                <a:solidFill>
                  <a:srgbClr val="A6BAC1"/>
                </a:solidFill>
                <a:latin typeface="Arial"/>
                <a:ea typeface="Arial"/>
                <a:cs typeface="Arial"/>
              </a:defRPr>
            </a:lvl9pPr>
          </a:lstStyle>
          <a:p xmlns:a="http://schemas.openxmlformats.org/drawingml/2006/main">
            <a:pPr>
              <a:defRPr sz="1200" b="0">
                <a:solidFill>
                  <a:srgbClr val="A6BAC1"/>
                </a:solidFill>
                <a:latin typeface="Arial"/>
                <a:ea typeface="Arial"/>
                <a:cs typeface="Arial"/>
              </a:defRPr>
            </a:pPr>
            <a:r>
              <a:rPr sz="1200" b="0">
                <a:solidFill>
                  <a:srgbClr val="A6BAC1"/>
                </a:solidFill>
                <a:latin typeface="Arial"/>
                <a:ea typeface="Arial"/>
                <a:cs typeface="Arial"/>
              </a:rPr>
              <a:t>02 / 10</a:t>
            </a:r>
          </a:p>
        </p:txBody>
      </p:sp>
      <p:sp>
        <p:nvSpPr>
          <p:cNvPr id="3" name="vision">
            <a:extLst xmlns:a="http://schemas.openxmlformats.org/drawingml/2006/main">
              <a:ext uri="{FF2B5EF4-FFF2-40B4-BE49-F238E27FC236}">
                <a16:creationId xmlns:a16="http://schemas.microsoft.com/office/drawing/2014/main" id="{D24A62E5-1636-4BA0-B658-836CEC072FCC}"/>
              </a:ext>
            </a:extLst>
          </p:cNvPr>
          <p:cNvSpPr>
            <a:spLocks xmlns:a="http://schemas.openxmlformats.org/drawingml/2006/main" noGrp="1"/>
          </p:cNvSpPr>
          <p:nvPr/>
        </p:nvSpPr>
        <p:spPr>
          <a:xfrm xmlns:a="http://schemas.openxmlformats.org/drawingml/2006/main">
            <a:off x="609600" y="1981200"/>
            <a:ext cx="1076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defRPr sz="3600" b="1">
                <a:solidFill>
                  <a:srgbClr val="EFF5F1"/>
                </a:solidFill>
                <a:latin typeface="Arial"/>
                <a:ea typeface="Arial"/>
                <a:cs typeface="Arial"/>
              </a:defRPr>
            </a:lvl1pPr>
            <a:lvl2pPr>
              <a:defRPr sz="3600" b="1">
                <a:solidFill>
                  <a:srgbClr val="EFF5F1"/>
                </a:solidFill>
                <a:latin typeface="Arial"/>
                <a:ea typeface="Arial"/>
                <a:cs typeface="Arial"/>
              </a:defRPr>
            </a:lvl2pPr>
            <a:lvl3pPr>
              <a:defRPr sz="3600" b="1">
                <a:solidFill>
                  <a:srgbClr val="EFF5F1"/>
                </a:solidFill>
                <a:latin typeface="Arial"/>
                <a:ea typeface="Arial"/>
                <a:cs typeface="Arial"/>
              </a:defRPr>
            </a:lvl3pPr>
            <a:lvl4pPr>
              <a:defRPr sz="3600" b="1">
                <a:solidFill>
                  <a:srgbClr val="EFF5F1"/>
                </a:solidFill>
                <a:latin typeface="Arial"/>
                <a:ea typeface="Arial"/>
                <a:cs typeface="Arial"/>
              </a:defRPr>
            </a:lvl4pPr>
            <a:lvl5pPr>
              <a:defRPr sz="3600" b="1">
                <a:solidFill>
                  <a:srgbClr val="EFF5F1"/>
                </a:solidFill>
                <a:latin typeface="Arial"/>
                <a:ea typeface="Arial"/>
                <a:cs typeface="Arial"/>
              </a:defRPr>
            </a:lvl5pPr>
            <a:lvl6pPr>
              <a:defRPr sz="3600" b="1">
                <a:solidFill>
                  <a:srgbClr val="EFF5F1"/>
                </a:solidFill>
                <a:latin typeface="Arial"/>
                <a:ea typeface="Arial"/>
                <a:cs typeface="Arial"/>
              </a:defRPr>
            </a:lvl6pPr>
            <a:lvl7pPr>
              <a:defRPr sz="3600" b="1">
                <a:solidFill>
                  <a:srgbClr val="EFF5F1"/>
                </a:solidFill>
                <a:latin typeface="Arial"/>
                <a:ea typeface="Arial"/>
                <a:cs typeface="Arial"/>
              </a:defRPr>
            </a:lvl7pPr>
            <a:lvl8pPr>
              <a:defRPr sz="3600" b="1">
                <a:solidFill>
                  <a:srgbClr val="EFF5F1"/>
                </a:solidFill>
                <a:latin typeface="Arial"/>
                <a:ea typeface="Arial"/>
                <a:cs typeface="Arial"/>
              </a:defRPr>
            </a:lvl8pPr>
            <a:lvl9pPr>
              <a:defRPr sz="3600" b="1">
                <a:solidFill>
                  <a:srgbClr val="EFF5F1"/>
                </a:solidFill>
                <a:latin typeface="Arial"/>
                <a:ea typeface="Arial"/>
                <a:cs typeface="Arial"/>
              </a:defRPr>
            </a:lvl9pPr>
          </a:lstStyle>
          <a:p xmlns:a="http://schemas.openxmlformats.org/drawingml/2006/main">
            <a:pPr>
              <a:defRPr sz="3600" b="1">
                <a:solidFill>
                  <a:srgbClr val="EFF5F1"/>
                </a:solidFill>
                <a:latin typeface="Arial"/>
                <a:ea typeface="Arial"/>
                <a:cs typeface="Arial"/>
              </a:defRPr>
            </a:pPr>
            <a:r>
              <a:rPr sz="3600" b="1">
                <a:solidFill>
                  <a:srgbClr val="EFF5F1"/>
                </a:solidFill>
                <a:latin typeface="Arial"/>
                <a:ea typeface="Arial"/>
                <a:cs typeface="Arial"/>
              </a:rPr>
              <a:t>The customer specifies the outcome.</a:t>
            </a:r>
          </a:p>
          <a:p xmlns:a="http://schemas.openxmlformats.org/drawingml/2006/main">
            <a:pPr>
              <a:defRPr sz="3600" b="1">
                <a:solidFill>
                  <a:srgbClr val="EFF5F1"/>
                </a:solidFill>
                <a:latin typeface="Arial"/>
                <a:ea typeface="Arial"/>
                <a:cs typeface="Arial"/>
              </a:defRPr>
            </a:pPr>
            <a:r>
              <a:rPr sz="3600" b="1">
                <a:solidFill>
                  <a:srgbClr val="EFF5F1"/>
                </a:solidFill>
                <a:latin typeface="Arial"/>
                <a:ea typeface="Arial"/>
                <a:cs typeface="Arial"/>
              </a:rPr>
              <a:t>Agents coordinate its components.</a:t>
            </a:r>
          </a:p>
        </p:txBody>
      </p:sp>
      <p:sp>
        <p:nvSpPr>
          <p:cNvPr id="4" name="today-label">
            <a:extLst xmlns:a="http://schemas.openxmlformats.org/drawingml/2006/main">
              <a:ext uri="{FF2B5EF4-FFF2-40B4-BE49-F238E27FC236}">
                <a16:creationId xmlns:a16="http://schemas.microsoft.com/office/drawing/2014/main" id="{3B91E7A7-88C9-49CA-9969-B07C18CB0253}"/>
              </a:ext>
            </a:extLst>
          </p:cNvPr>
          <p:cNvSpPr>
            <a:spLocks xmlns:a="http://schemas.openxmlformats.org/drawingml/2006/main" noGrp="1"/>
          </p:cNvSpPr>
          <p:nvPr/>
        </p:nvSpPr>
        <p:spPr>
          <a:xfrm xmlns:a="http://schemas.openxmlformats.org/drawingml/2006/main">
            <a:off x="609600" y="39909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DFBF7E"/>
                </a:solidFill>
                <a:latin typeface="Arial"/>
                <a:ea typeface="Arial"/>
                <a:cs typeface="Arial"/>
              </a:defRPr>
            </a:defPPr>
            <a:lvl1pPr>
              <a:defRPr sz="2025" b="1">
                <a:solidFill>
                  <a:srgbClr val="DFBF7E"/>
                </a:solidFill>
                <a:latin typeface="Arial"/>
                <a:ea typeface="Arial"/>
                <a:cs typeface="Arial"/>
              </a:defRPr>
            </a:lvl1pPr>
            <a:lvl2pPr>
              <a:defRPr sz="2025" b="1">
                <a:solidFill>
                  <a:srgbClr val="DFBF7E"/>
                </a:solidFill>
                <a:latin typeface="Arial"/>
                <a:ea typeface="Arial"/>
                <a:cs typeface="Arial"/>
              </a:defRPr>
            </a:lvl2pPr>
            <a:lvl3pPr>
              <a:defRPr sz="2025" b="1">
                <a:solidFill>
                  <a:srgbClr val="DFBF7E"/>
                </a:solidFill>
                <a:latin typeface="Arial"/>
                <a:ea typeface="Arial"/>
                <a:cs typeface="Arial"/>
              </a:defRPr>
            </a:lvl3pPr>
            <a:lvl4pPr>
              <a:defRPr sz="2025" b="1">
                <a:solidFill>
                  <a:srgbClr val="DFBF7E"/>
                </a:solidFill>
                <a:latin typeface="Arial"/>
                <a:ea typeface="Arial"/>
                <a:cs typeface="Arial"/>
              </a:defRPr>
            </a:lvl4pPr>
            <a:lvl5pPr>
              <a:defRPr sz="2025" b="1">
                <a:solidFill>
                  <a:srgbClr val="DFBF7E"/>
                </a:solidFill>
                <a:latin typeface="Arial"/>
                <a:ea typeface="Arial"/>
                <a:cs typeface="Arial"/>
              </a:defRPr>
            </a:lvl5pPr>
            <a:lvl6pPr>
              <a:defRPr sz="2025" b="1">
                <a:solidFill>
                  <a:srgbClr val="DFBF7E"/>
                </a:solidFill>
                <a:latin typeface="Arial"/>
                <a:ea typeface="Arial"/>
                <a:cs typeface="Arial"/>
              </a:defRPr>
            </a:lvl6pPr>
            <a:lvl7pPr>
              <a:defRPr sz="2025" b="1">
                <a:solidFill>
                  <a:srgbClr val="DFBF7E"/>
                </a:solidFill>
                <a:latin typeface="Arial"/>
                <a:ea typeface="Arial"/>
                <a:cs typeface="Arial"/>
              </a:defRPr>
            </a:lvl7pPr>
            <a:lvl8pPr>
              <a:defRPr sz="2025" b="1">
                <a:solidFill>
                  <a:srgbClr val="DFBF7E"/>
                </a:solidFill>
                <a:latin typeface="Arial"/>
                <a:ea typeface="Arial"/>
                <a:cs typeface="Arial"/>
              </a:defRPr>
            </a:lvl8pPr>
            <a:lvl9pPr>
              <a:defRPr sz="2025" b="1">
                <a:solidFill>
                  <a:srgbClr val="DFBF7E"/>
                </a:solidFill>
                <a:latin typeface="Arial"/>
                <a:ea typeface="Arial"/>
                <a:cs typeface="Arial"/>
              </a:defRPr>
            </a:lvl9pPr>
          </a:lstStyle>
          <a:p xmlns:a="http://schemas.openxmlformats.org/drawingml/2006/main">
            <a:pPr>
              <a:defRPr sz="2025" b="1">
                <a:solidFill>
                  <a:srgbClr val="DFBF7E"/>
                </a:solidFill>
                <a:latin typeface="Arial"/>
                <a:ea typeface="Arial"/>
                <a:cs typeface="Arial"/>
              </a:defRPr>
            </a:pPr>
            <a:r>
              <a:rPr sz="2025" b="1">
                <a:solidFill>
                  <a:srgbClr val="DFBF7E"/>
                </a:solidFill>
                <a:latin typeface="Arial"/>
                <a:ea typeface="Arial"/>
                <a:cs typeface="Arial"/>
              </a:rPr>
              <a:t>The purchase today</a:t>
            </a:r>
          </a:p>
        </p:txBody>
      </p:sp>
      <p:sp>
        <p:nvSpPr>
          <p:cNvPr id="5" name="today">
            <a:extLst xmlns:a="http://schemas.openxmlformats.org/drawingml/2006/main">
              <a:ext uri="{FF2B5EF4-FFF2-40B4-BE49-F238E27FC236}">
                <a16:creationId xmlns:a16="http://schemas.microsoft.com/office/drawing/2014/main" id="{A7202808-5889-48D8-AB0D-6147DC9888D2}"/>
              </a:ext>
            </a:extLst>
          </p:cNvPr>
          <p:cNvSpPr>
            <a:spLocks xmlns:a="http://schemas.openxmlformats.org/drawingml/2006/main" noGrp="1"/>
          </p:cNvSpPr>
          <p:nvPr/>
        </p:nvSpPr>
        <p:spPr>
          <a:xfrm xmlns:a="http://schemas.openxmlformats.org/drawingml/2006/main">
            <a:off x="609600" y="4552950"/>
            <a:ext cx="4857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A6BAC1"/>
                </a:solidFill>
                <a:latin typeface="Arial"/>
                <a:ea typeface="Arial"/>
                <a:cs typeface="Arial"/>
              </a:defRPr>
            </a:defPPr>
            <a:lvl1pPr>
              <a:defRPr sz="2250" b="0">
                <a:solidFill>
                  <a:srgbClr val="A6BAC1"/>
                </a:solidFill>
                <a:latin typeface="Arial"/>
                <a:ea typeface="Arial"/>
                <a:cs typeface="Arial"/>
              </a:defRPr>
            </a:lvl1pPr>
            <a:lvl2pPr>
              <a:defRPr sz="2250" b="0">
                <a:solidFill>
                  <a:srgbClr val="A6BAC1"/>
                </a:solidFill>
                <a:latin typeface="Arial"/>
                <a:ea typeface="Arial"/>
                <a:cs typeface="Arial"/>
              </a:defRPr>
            </a:lvl2pPr>
            <a:lvl3pPr>
              <a:defRPr sz="2250" b="0">
                <a:solidFill>
                  <a:srgbClr val="A6BAC1"/>
                </a:solidFill>
                <a:latin typeface="Arial"/>
                <a:ea typeface="Arial"/>
                <a:cs typeface="Arial"/>
              </a:defRPr>
            </a:lvl3pPr>
            <a:lvl4pPr>
              <a:defRPr sz="2250" b="0">
                <a:solidFill>
                  <a:srgbClr val="A6BAC1"/>
                </a:solidFill>
                <a:latin typeface="Arial"/>
                <a:ea typeface="Arial"/>
                <a:cs typeface="Arial"/>
              </a:defRPr>
            </a:lvl4pPr>
            <a:lvl5pPr>
              <a:defRPr sz="2250" b="0">
                <a:solidFill>
                  <a:srgbClr val="A6BAC1"/>
                </a:solidFill>
                <a:latin typeface="Arial"/>
                <a:ea typeface="Arial"/>
                <a:cs typeface="Arial"/>
              </a:defRPr>
            </a:lvl5pPr>
            <a:lvl6pPr>
              <a:defRPr sz="2250" b="0">
                <a:solidFill>
                  <a:srgbClr val="A6BAC1"/>
                </a:solidFill>
                <a:latin typeface="Arial"/>
                <a:ea typeface="Arial"/>
                <a:cs typeface="Arial"/>
              </a:defRPr>
            </a:lvl6pPr>
            <a:lvl7pPr>
              <a:defRPr sz="2250" b="0">
                <a:solidFill>
                  <a:srgbClr val="A6BAC1"/>
                </a:solidFill>
                <a:latin typeface="Arial"/>
                <a:ea typeface="Arial"/>
                <a:cs typeface="Arial"/>
              </a:defRPr>
            </a:lvl7pPr>
            <a:lvl8pPr>
              <a:defRPr sz="2250" b="0">
                <a:solidFill>
                  <a:srgbClr val="A6BAC1"/>
                </a:solidFill>
                <a:latin typeface="Arial"/>
                <a:ea typeface="Arial"/>
                <a:cs typeface="Arial"/>
              </a:defRPr>
            </a:lvl8pPr>
            <a:lvl9pPr>
              <a:defRPr sz="2250" b="0">
                <a:solidFill>
                  <a:srgbClr val="A6BAC1"/>
                </a:solidFill>
                <a:latin typeface="Arial"/>
                <a:ea typeface="Arial"/>
                <a:cs typeface="Arial"/>
              </a:defRPr>
            </a:lvl9pPr>
          </a:lstStyle>
          <a:p xmlns:a="http://schemas.openxmlformats.org/drawingml/2006/main">
            <a:pPr>
              <a:defRPr sz="2250" b="0">
                <a:solidFill>
                  <a:srgbClr val="A6BAC1"/>
                </a:solidFill>
                <a:latin typeface="Arial"/>
                <a:ea typeface="Arial"/>
                <a:cs typeface="Arial"/>
              </a:defRPr>
            </a:pPr>
            <a:r>
              <a:rPr sz="2250" b="0">
                <a:solidFill>
                  <a:srgbClr val="A6BAC1"/>
                </a:solidFill>
                <a:latin typeface="Arial"/>
                <a:ea typeface="Arial"/>
                <a:cs typeface="Arial"/>
              </a:rPr>
              <a:t>The customer reconciles offers, schedules and cancellation terms across suppliers.</a:t>
            </a:r>
          </a:p>
        </p:txBody>
      </p:sp>
      <p:sp>
        <p:nvSpPr>
          <p:cNvPr id="6" name="mandate-label">
            <a:extLst xmlns:a="http://schemas.openxmlformats.org/drawingml/2006/main">
              <a:ext uri="{FF2B5EF4-FFF2-40B4-BE49-F238E27FC236}">
                <a16:creationId xmlns:a16="http://schemas.microsoft.com/office/drawing/2014/main" id="{E10F438C-B0B2-4AA3-BAC5-75D9B8BE7FDB}"/>
              </a:ext>
            </a:extLst>
          </p:cNvPr>
          <p:cNvSpPr>
            <a:spLocks xmlns:a="http://schemas.openxmlformats.org/drawingml/2006/main" noGrp="1"/>
          </p:cNvSpPr>
          <p:nvPr/>
        </p:nvSpPr>
        <p:spPr>
          <a:xfrm xmlns:a="http://schemas.openxmlformats.org/drawingml/2006/main">
            <a:off x="6353175" y="3990975"/>
            <a:ext cx="5229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A4E3C3"/>
                </a:solidFill>
                <a:latin typeface="Arial"/>
                <a:ea typeface="Arial"/>
                <a:cs typeface="Arial"/>
              </a:defRPr>
            </a:defPPr>
            <a:lvl1pPr>
              <a:defRPr sz="2025" b="1">
                <a:solidFill>
                  <a:srgbClr val="A4E3C3"/>
                </a:solidFill>
                <a:latin typeface="Arial"/>
                <a:ea typeface="Arial"/>
                <a:cs typeface="Arial"/>
              </a:defRPr>
            </a:lvl1pPr>
            <a:lvl2pPr>
              <a:defRPr sz="2025" b="1">
                <a:solidFill>
                  <a:srgbClr val="A4E3C3"/>
                </a:solidFill>
                <a:latin typeface="Arial"/>
                <a:ea typeface="Arial"/>
                <a:cs typeface="Arial"/>
              </a:defRPr>
            </a:lvl2pPr>
            <a:lvl3pPr>
              <a:defRPr sz="2025" b="1">
                <a:solidFill>
                  <a:srgbClr val="A4E3C3"/>
                </a:solidFill>
                <a:latin typeface="Arial"/>
                <a:ea typeface="Arial"/>
                <a:cs typeface="Arial"/>
              </a:defRPr>
            </a:lvl3pPr>
            <a:lvl4pPr>
              <a:defRPr sz="2025" b="1">
                <a:solidFill>
                  <a:srgbClr val="A4E3C3"/>
                </a:solidFill>
                <a:latin typeface="Arial"/>
                <a:ea typeface="Arial"/>
                <a:cs typeface="Arial"/>
              </a:defRPr>
            </a:lvl4pPr>
            <a:lvl5pPr>
              <a:defRPr sz="2025" b="1">
                <a:solidFill>
                  <a:srgbClr val="A4E3C3"/>
                </a:solidFill>
                <a:latin typeface="Arial"/>
                <a:ea typeface="Arial"/>
                <a:cs typeface="Arial"/>
              </a:defRPr>
            </a:lvl5pPr>
            <a:lvl6pPr>
              <a:defRPr sz="2025" b="1">
                <a:solidFill>
                  <a:srgbClr val="A4E3C3"/>
                </a:solidFill>
                <a:latin typeface="Arial"/>
                <a:ea typeface="Arial"/>
                <a:cs typeface="Arial"/>
              </a:defRPr>
            </a:lvl6pPr>
            <a:lvl7pPr>
              <a:defRPr sz="2025" b="1">
                <a:solidFill>
                  <a:srgbClr val="A4E3C3"/>
                </a:solidFill>
                <a:latin typeface="Arial"/>
                <a:ea typeface="Arial"/>
                <a:cs typeface="Arial"/>
              </a:defRPr>
            </a:lvl7pPr>
            <a:lvl8pPr>
              <a:defRPr sz="2025" b="1">
                <a:solidFill>
                  <a:srgbClr val="A4E3C3"/>
                </a:solidFill>
                <a:latin typeface="Arial"/>
                <a:ea typeface="Arial"/>
                <a:cs typeface="Arial"/>
              </a:defRPr>
            </a:lvl8pPr>
            <a:lvl9pPr>
              <a:defRPr sz="2025" b="1">
                <a:solidFill>
                  <a:srgbClr val="A4E3C3"/>
                </a:solidFill>
                <a:latin typeface="Arial"/>
                <a:ea typeface="Arial"/>
                <a:cs typeface="Arial"/>
              </a:defRPr>
            </a:lvl9pPr>
          </a:lstStyle>
          <a:p xmlns:a="http://schemas.openxmlformats.org/drawingml/2006/main">
            <a:pPr>
              <a:defRPr sz="2025" b="1">
                <a:solidFill>
                  <a:srgbClr val="A4E3C3"/>
                </a:solidFill>
                <a:latin typeface="Arial"/>
                <a:ea typeface="Arial"/>
                <a:cs typeface="Arial"/>
              </a:defRPr>
            </a:pPr>
            <a:r>
              <a:rPr sz="2025" b="1">
                <a:solidFill>
                  <a:srgbClr val="A4E3C3"/>
                </a:solidFill>
                <a:latin typeface="Arial"/>
                <a:ea typeface="Arial"/>
                <a:cs typeface="Arial"/>
              </a:rPr>
              <a:t>The ASTERION agreement</a:t>
            </a:r>
          </a:p>
        </p:txBody>
      </p:sp>
      <p:sp>
        <p:nvSpPr>
          <p:cNvPr id="7" name="mandate">
            <a:extLst xmlns:a="http://schemas.openxmlformats.org/drawingml/2006/main">
              <a:ext uri="{FF2B5EF4-FFF2-40B4-BE49-F238E27FC236}">
                <a16:creationId xmlns:a16="http://schemas.microsoft.com/office/drawing/2014/main" id="{AE5C9FFD-3B9A-4A56-AD41-DB8D534FA849}"/>
              </a:ext>
            </a:extLst>
          </p:cNvPr>
          <p:cNvSpPr>
            <a:spLocks xmlns:a="http://schemas.openxmlformats.org/drawingml/2006/main" noGrp="1"/>
          </p:cNvSpPr>
          <p:nvPr/>
        </p:nvSpPr>
        <p:spPr>
          <a:xfrm xmlns:a="http://schemas.openxmlformats.org/drawingml/2006/main">
            <a:off x="6353175" y="4552950"/>
            <a:ext cx="52292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EFF5F1"/>
                </a:solidFill>
                <a:latin typeface="Arial"/>
                <a:ea typeface="Arial"/>
                <a:cs typeface="Arial"/>
              </a:defRPr>
            </a:defPPr>
            <a:lvl1pPr>
              <a:defRPr sz="2250" b="0">
                <a:solidFill>
                  <a:srgbClr val="EFF5F1"/>
                </a:solidFill>
                <a:latin typeface="Arial"/>
                <a:ea typeface="Arial"/>
                <a:cs typeface="Arial"/>
              </a:defRPr>
            </a:lvl1pPr>
            <a:lvl2pPr>
              <a:defRPr sz="2250" b="0">
                <a:solidFill>
                  <a:srgbClr val="EFF5F1"/>
                </a:solidFill>
                <a:latin typeface="Arial"/>
                <a:ea typeface="Arial"/>
                <a:cs typeface="Arial"/>
              </a:defRPr>
            </a:lvl2pPr>
            <a:lvl3pPr>
              <a:defRPr sz="2250" b="0">
                <a:solidFill>
                  <a:srgbClr val="EFF5F1"/>
                </a:solidFill>
                <a:latin typeface="Arial"/>
                <a:ea typeface="Arial"/>
                <a:cs typeface="Arial"/>
              </a:defRPr>
            </a:lvl3pPr>
            <a:lvl4pPr>
              <a:defRPr sz="2250" b="0">
                <a:solidFill>
                  <a:srgbClr val="EFF5F1"/>
                </a:solidFill>
                <a:latin typeface="Arial"/>
                <a:ea typeface="Arial"/>
                <a:cs typeface="Arial"/>
              </a:defRPr>
            </a:lvl4pPr>
            <a:lvl5pPr>
              <a:defRPr sz="2250" b="0">
                <a:solidFill>
                  <a:srgbClr val="EFF5F1"/>
                </a:solidFill>
                <a:latin typeface="Arial"/>
                <a:ea typeface="Arial"/>
                <a:cs typeface="Arial"/>
              </a:defRPr>
            </a:lvl5pPr>
            <a:lvl6pPr>
              <a:defRPr sz="2250" b="0">
                <a:solidFill>
                  <a:srgbClr val="EFF5F1"/>
                </a:solidFill>
                <a:latin typeface="Arial"/>
                <a:ea typeface="Arial"/>
                <a:cs typeface="Arial"/>
              </a:defRPr>
            </a:lvl6pPr>
            <a:lvl7pPr>
              <a:defRPr sz="2250" b="0">
                <a:solidFill>
                  <a:srgbClr val="EFF5F1"/>
                </a:solidFill>
                <a:latin typeface="Arial"/>
                <a:ea typeface="Arial"/>
                <a:cs typeface="Arial"/>
              </a:defRPr>
            </a:lvl7pPr>
            <a:lvl8pPr>
              <a:defRPr sz="2250" b="0">
                <a:solidFill>
                  <a:srgbClr val="EFF5F1"/>
                </a:solidFill>
                <a:latin typeface="Arial"/>
                <a:ea typeface="Arial"/>
                <a:cs typeface="Arial"/>
              </a:defRPr>
            </a:lvl8pPr>
            <a:lvl9pPr>
              <a:defRPr sz="2250" b="0">
                <a:solidFill>
                  <a:srgbClr val="EFF5F1"/>
                </a:solidFill>
                <a:latin typeface="Arial"/>
                <a:ea typeface="Arial"/>
                <a:cs typeface="Arial"/>
              </a:defRPr>
            </a:lvl9pPr>
          </a:lstStyle>
          <a:p xmlns:a="http://schemas.openxmlformats.org/drawingml/2006/main">
            <a:pPr>
              <a:defRPr sz="2250" b="0">
                <a:solidFill>
                  <a:srgbClr val="EFF5F1"/>
                </a:solidFill>
                <a:latin typeface="Arial"/>
                <a:ea typeface="Arial"/>
                <a:cs typeface="Arial"/>
              </a:defRPr>
            </a:pPr>
            <a:r>
              <a:rPr sz="2250" b="0">
                <a:solidFill>
                  <a:srgbClr val="EFF5F1"/>
                </a:solidFill>
                <a:latin typeface="Arial"/>
                <a:ea typeface="Arial"/>
                <a:cs typeface="Arial"/>
              </a:rPr>
              <a:t>One approved price, supplier allocation and evidence policy. The server enforces the spending limit.</a:t>
            </a:r>
          </a:p>
        </p:txBody>
      </p:sp>
      <p:sp>
        <p:nvSpPr>
          <p:cNvPr id="8" name="disclosure">
            <a:extLst xmlns:a="http://schemas.openxmlformats.org/drawingml/2006/main">
              <a:ext uri="{FF2B5EF4-FFF2-40B4-BE49-F238E27FC236}">
                <a16:creationId xmlns:a16="http://schemas.microsoft.com/office/drawing/2014/main" id="{7086C837-2363-46DD-A7FC-B5FD74B454CE}"/>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defRPr sz="1425" b="0">
                <a:solidFill>
                  <a:srgbClr val="A6BAC1"/>
                </a:solidFill>
                <a:latin typeface="Arial"/>
                <a:ea typeface="Arial"/>
                <a:cs typeface="Arial"/>
              </a:defRPr>
            </a:lvl1pPr>
            <a:lvl2pPr>
              <a:defRPr sz="1425" b="0">
                <a:solidFill>
                  <a:srgbClr val="A6BAC1"/>
                </a:solidFill>
                <a:latin typeface="Arial"/>
                <a:ea typeface="Arial"/>
                <a:cs typeface="Arial"/>
              </a:defRPr>
            </a:lvl2pPr>
            <a:lvl3pPr>
              <a:defRPr sz="1425" b="0">
                <a:solidFill>
                  <a:srgbClr val="A6BAC1"/>
                </a:solidFill>
                <a:latin typeface="Arial"/>
                <a:ea typeface="Arial"/>
                <a:cs typeface="Arial"/>
              </a:defRPr>
            </a:lvl3pPr>
            <a:lvl4pPr>
              <a:defRPr sz="1425" b="0">
                <a:solidFill>
                  <a:srgbClr val="A6BAC1"/>
                </a:solidFill>
                <a:latin typeface="Arial"/>
                <a:ea typeface="Arial"/>
                <a:cs typeface="Arial"/>
              </a:defRPr>
            </a:lvl4pPr>
            <a:lvl5pPr>
              <a:defRPr sz="1425" b="0">
                <a:solidFill>
                  <a:srgbClr val="A6BAC1"/>
                </a:solidFill>
                <a:latin typeface="Arial"/>
                <a:ea typeface="Arial"/>
                <a:cs typeface="Arial"/>
              </a:defRPr>
            </a:lvl5pPr>
            <a:lvl6pPr>
              <a:defRPr sz="1425" b="0">
                <a:solidFill>
                  <a:srgbClr val="A6BAC1"/>
                </a:solidFill>
                <a:latin typeface="Arial"/>
                <a:ea typeface="Arial"/>
                <a:cs typeface="Arial"/>
              </a:defRPr>
            </a:lvl6pPr>
            <a:lvl7pPr>
              <a:defRPr sz="1425" b="0">
                <a:solidFill>
                  <a:srgbClr val="A6BAC1"/>
                </a:solidFill>
                <a:latin typeface="Arial"/>
                <a:ea typeface="Arial"/>
                <a:cs typeface="Arial"/>
              </a:defRPr>
            </a:lvl7pPr>
            <a:lvl8pPr>
              <a:defRPr sz="1425" b="0">
                <a:solidFill>
                  <a:srgbClr val="A6BAC1"/>
                </a:solidFill>
                <a:latin typeface="Arial"/>
                <a:ea typeface="Arial"/>
                <a:cs typeface="Arial"/>
              </a:defRPr>
            </a:lvl8pPr>
            <a:lvl9pPr>
              <a:defRPr sz="1425" b="0">
                <a:solidFill>
                  <a:srgbClr val="A6BAC1"/>
                </a:solidFill>
                <a:latin typeface="Arial"/>
                <a:ea typeface="Arial"/>
                <a:cs typeface="Arial"/>
              </a:defRPr>
            </a:lvl9pPr>
          </a:lstStyle>
          <a:p xmlns:a="http://schemas.openxmlformats.org/drawingml/2006/main">
            <a:pPr>
              <a:defRPr sz="1425" b="0">
                <a:solidFill>
                  <a:srgbClr val="A6BAC1"/>
                </a:solidFill>
                <a:latin typeface="Arial"/>
                <a:ea typeface="Arial"/>
                <a:cs typeface="Arial"/>
              </a:defRPr>
            </a:pPr>
            <a:r>
              <a:rPr sz="1425" b="0">
                <a:solidFill>
                  <a:srgbClr val="A6BAC1"/>
                </a:solidFill>
                <a:latin typeface="Arial"/>
                <a:ea typeface="Arial"/>
                <a:cs typeface="Arial"/>
              </a:rPr>
              <a:t>The model proposes terms. Customer consent defines its financial authority.</a:t>
            </a:r>
          </a:p>
        </p:txBody>
      </p:sp>
    </p:spTree>
    <p:extLst>
      <p:ext uri="{BB962C8B-B14F-4D97-AF65-F5344CB8AC3E}">
        <p14:creationId xmlns:p14="http://schemas.microsoft.com/office/powerpoint/2010/main" val="866197542"/>
      </p:ext>
    </p:extLst>
  </p:cSld>
</p:sld>
</file>

<file path=ppt/slides/slide3.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2511EB4-F40F-45D9-8910-21EC62A0B05C}"/>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defRPr sz="3600" b="1">
                <a:solidFill>
                  <a:srgbClr val="EFF5F1"/>
                </a:solidFill>
                <a:latin typeface="Arial"/>
                <a:ea typeface="Arial"/>
                <a:cs typeface="Arial"/>
              </a:defRPr>
            </a:lvl1pPr>
            <a:lvl2pPr>
              <a:defRPr sz="3600" b="1">
                <a:solidFill>
                  <a:srgbClr val="EFF5F1"/>
                </a:solidFill>
                <a:latin typeface="Arial"/>
                <a:ea typeface="Arial"/>
                <a:cs typeface="Arial"/>
              </a:defRPr>
            </a:lvl2pPr>
            <a:lvl3pPr>
              <a:defRPr sz="3600" b="1">
                <a:solidFill>
                  <a:srgbClr val="EFF5F1"/>
                </a:solidFill>
                <a:latin typeface="Arial"/>
                <a:ea typeface="Arial"/>
                <a:cs typeface="Arial"/>
              </a:defRPr>
            </a:lvl3pPr>
            <a:lvl4pPr>
              <a:defRPr sz="3600" b="1">
                <a:solidFill>
                  <a:srgbClr val="EFF5F1"/>
                </a:solidFill>
                <a:latin typeface="Arial"/>
                <a:ea typeface="Arial"/>
                <a:cs typeface="Arial"/>
              </a:defRPr>
            </a:lvl4pPr>
            <a:lvl5pPr>
              <a:defRPr sz="3600" b="1">
                <a:solidFill>
                  <a:srgbClr val="EFF5F1"/>
                </a:solidFill>
                <a:latin typeface="Arial"/>
                <a:ea typeface="Arial"/>
                <a:cs typeface="Arial"/>
              </a:defRPr>
            </a:lvl5pPr>
            <a:lvl6pPr>
              <a:defRPr sz="3600" b="1">
                <a:solidFill>
                  <a:srgbClr val="EFF5F1"/>
                </a:solidFill>
                <a:latin typeface="Arial"/>
                <a:ea typeface="Arial"/>
                <a:cs typeface="Arial"/>
              </a:defRPr>
            </a:lvl6pPr>
            <a:lvl7pPr>
              <a:defRPr sz="3600" b="1">
                <a:solidFill>
                  <a:srgbClr val="EFF5F1"/>
                </a:solidFill>
                <a:latin typeface="Arial"/>
                <a:ea typeface="Arial"/>
                <a:cs typeface="Arial"/>
              </a:defRPr>
            </a:lvl7pPr>
            <a:lvl8pPr>
              <a:defRPr sz="3600" b="1">
                <a:solidFill>
                  <a:srgbClr val="EFF5F1"/>
                </a:solidFill>
                <a:latin typeface="Arial"/>
                <a:ea typeface="Arial"/>
                <a:cs typeface="Arial"/>
              </a:defRPr>
            </a:lvl8pPr>
            <a:lvl9pPr>
              <a:defRPr sz="3600" b="1">
                <a:solidFill>
                  <a:srgbClr val="EFF5F1"/>
                </a:solidFill>
                <a:latin typeface="Arial"/>
                <a:ea typeface="Arial"/>
                <a:cs typeface="Arial"/>
              </a:defRPr>
            </a:lvl9pPr>
          </a:lstStyle>
          <a:p xmlns:a="http://schemas.openxmlformats.org/drawingml/2006/main">
            <a:pPr>
              <a:defRPr sz="3600" b="1">
                <a:solidFill>
                  <a:srgbClr val="EFF5F1"/>
                </a:solidFill>
                <a:latin typeface="Arial"/>
                <a:ea typeface="Arial"/>
                <a:cs typeface="Arial"/>
              </a:defRPr>
            </a:pPr>
            <a:r>
              <a:rPr sz="3600" b="1">
                <a:solidFill>
                  <a:srgbClr val="EFF5F1"/>
                </a:solidFill>
                <a:latin typeface="Arial"/>
                <a:ea typeface="Arial"/>
                <a:cs typeface="Arial"/>
              </a:rPr>
              <a:t>A verified La Palma agreement</a:t>
            </a:r>
          </a:p>
        </p:txBody>
      </p:sp>
      <p:sp>
        <p:nvSpPr>
          <p:cNvPr id="2" name="page">
            <a:extLst xmlns:a="http://schemas.openxmlformats.org/drawingml/2006/main">
              <a:ext uri="{FF2B5EF4-FFF2-40B4-BE49-F238E27FC236}">
                <a16:creationId xmlns:a16="http://schemas.microsoft.com/office/drawing/2014/main" id="{99EB5548-A767-4292-BE18-FC916FEB5C64}"/>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defRPr sz="1200" b="0">
                <a:solidFill>
                  <a:srgbClr val="A6BAC1"/>
                </a:solidFill>
                <a:latin typeface="Arial"/>
                <a:ea typeface="Arial"/>
                <a:cs typeface="Arial"/>
              </a:defRPr>
            </a:lvl1pPr>
            <a:lvl2pPr>
              <a:defRPr sz="1200" b="0">
                <a:solidFill>
                  <a:srgbClr val="A6BAC1"/>
                </a:solidFill>
                <a:latin typeface="Arial"/>
                <a:ea typeface="Arial"/>
                <a:cs typeface="Arial"/>
              </a:defRPr>
            </a:lvl2pPr>
            <a:lvl3pPr>
              <a:defRPr sz="1200" b="0">
                <a:solidFill>
                  <a:srgbClr val="A6BAC1"/>
                </a:solidFill>
                <a:latin typeface="Arial"/>
                <a:ea typeface="Arial"/>
                <a:cs typeface="Arial"/>
              </a:defRPr>
            </a:lvl3pPr>
            <a:lvl4pPr>
              <a:defRPr sz="1200" b="0">
                <a:solidFill>
                  <a:srgbClr val="A6BAC1"/>
                </a:solidFill>
                <a:latin typeface="Arial"/>
                <a:ea typeface="Arial"/>
                <a:cs typeface="Arial"/>
              </a:defRPr>
            </a:lvl4pPr>
            <a:lvl5pPr>
              <a:defRPr sz="1200" b="0">
                <a:solidFill>
                  <a:srgbClr val="A6BAC1"/>
                </a:solidFill>
                <a:latin typeface="Arial"/>
                <a:ea typeface="Arial"/>
                <a:cs typeface="Arial"/>
              </a:defRPr>
            </a:lvl5pPr>
            <a:lvl6pPr>
              <a:defRPr sz="1200" b="0">
                <a:solidFill>
                  <a:srgbClr val="A6BAC1"/>
                </a:solidFill>
                <a:latin typeface="Arial"/>
                <a:ea typeface="Arial"/>
                <a:cs typeface="Arial"/>
              </a:defRPr>
            </a:lvl6pPr>
            <a:lvl7pPr>
              <a:defRPr sz="1200" b="0">
                <a:solidFill>
                  <a:srgbClr val="A6BAC1"/>
                </a:solidFill>
                <a:latin typeface="Arial"/>
                <a:ea typeface="Arial"/>
                <a:cs typeface="Arial"/>
              </a:defRPr>
            </a:lvl7pPr>
            <a:lvl8pPr>
              <a:defRPr sz="1200" b="0">
                <a:solidFill>
                  <a:srgbClr val="A6BAC1"/>
                </a:solidFill>
                <a:latin typeface="Arial"/>
                <a:ea typeface="Arial"/>
                <a:cs typeface="Arial"/>
              </a:defRPr>
            </a:lvl8pPr>
            <a:lvl9pPr>
              <a:defRPr sz="1200" b="0">
                <a:solidFill>
                  <a:srgbClr val="A6BAC1"/>
                </a:solidFill>
                <a:latin typeface="Arial"/>
                <a:ea typeface="Arial"/>
                <a:cs typeface="Arial"/>
              </a:defRPr>
            </a:lvl9pPr>
          </a:lstStyle>
          <a:p xmlns:a="http://schemas.openxmlformats.org/drawingml/2006/main">
            <a:pPr>
              <a:defRPr sz="1200" b="0">
                <a:solidFill>
                  <a:srgbClr val="A6BAC1"/>
                </a:solidFill>
                <a:latin typeface="Arial"/>
                <a:ea typeface="Arial"/>
                <a:cs typeface="Arial"/>
              </a:defRPr>
            </a:pPr>
            <a:r>
              <a:rPr sz="1200" b="0">
                <a:solidFill>
                  <a:srgbClr val="A6BAC1"/>
                </a:solidFill>
                <a:latin typeface="Arial"/>
                <a:ea typeface="Arial"/>
                <a:cs typeface="Arial"/>
              </a:rPr>
              <a:t>03 / 10</a:t>
            </a:r>
          </a:p>
        </p:txBody>
      </p:sp>
      <p:sp>
        <p:nvSpPr>
          <p:cNvPr id="3" name="ceiling-label">
            <a:extLst xmlns:a="http://schemas.openxmlformats.org/drawingml/2006/main">
              <a:ext uri="{FF2B5EF4-FFF2-40B4-BE49-F238E27FC236}">
                <a16:creationId xmlns:a16="http://schemas.microsoft.com/office/drawing/2014/main" id="{4804394F-05A1-4A71-B2FB-0272704ACED4}"/>
              </a:ext>
            </a:extLst>
          </p:cNvPr>
          <p:cNvSpPr>
            <a:spLocks xmlns:a="http://schemas.openxmlformats.org/drawingml/2006/main" noGrp="1"/>
          </p:cNvSpPr>
          <p:nvPr/>
        </p:nvSpPr>
        <p:spPr>
          <a:xfrm xmlns:a="http://schemas.openxmlformats.org/drawingml/2006/main">
            <a:off x="609600" y="1819275"/>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A6BAC1"/>
                </a:solidFill>
                <a:latin typeface="Arial"/>
                <a:ea typeface="Arial"/>
                <a:cs typeface="Arial"/>
              </a:defRPr>
            </a:defPPr>
            <a:lvl1pPr>
              <a:defRPr sz="1650" b="1">
                <a:solidFill>
                  <a:srgbClr val="A6BAC1"/>
                </a:solidFill>
                <a:latin typeface="Arial"/>
                <a:ea typeface="Arial"/>
                <a:cs typeface="Arial"/>
              </a:defRPr>
            </a:lvl1pPr>
            <a:lvl2pPr>
              <a:defRPr sz="1650" b="1">
                <a:solidFill>
                  <a:srgbClr val="A6BAC1"/>
                </a:solidFill>
                <a:latin typeface="Arial"/>
                <a:ea typeface="Arial"/>
                <a:cs typeface="Arial"/>
              </a:defRPr>
            </a:lvl2pPr>
            <a:lvl3pPr>
              <a:defRPr sz="1650" b="1">
                <a:solidFill>
                  <a:srgbClr val="A6BAC1"/>
                </a:solidFill>
                <a:latin typeface="Arial"/>
                <a:ea typeface="Arial"/>
                <a:cs typeface="Arial"/>
              </a:defRPr>
            </a:lvl3pPr>
            <a:lvl4pPr>
              <a:defRPr sz="1650" b="1">
                <a:solidFill>
                  <a:srgbClr val="A6BAC1"/>
                </a:solidFill>
                <a:latin typeface="Arial"/>
                <a:ea typeface="Arial"/>
                <a:cs typeface="Arial"/>
              </a:defRPr>
            </a:lvl4pPr>
            <a:lvl5pPr>
              <a:defRPr sz="1650" b="1">
                <a:solidFill>
                  <a:srgbClr val="A6BAC1"/>
                </a:solidFill>
                <a:latin typeface="Arial"/>
                <a:ea typeface="Arial"/>
                <a:cs typeface="Arial"/>
              </a:defRPr>
            </a:lvl5pPr>
            <a:lvl6pPr>
              <a:defRPr sz="1650" b="1">
                <a:solidFill>
                  <a:srgbClr val="A6BAC1"/>
                </a:solidFill>
                <a:latin typeface="Arial"/>
                <a:ea typeface="Arial"/>
                <a:cs typeface="Arial"/>
              </a:defRPr>
            </a:lvl6pPr>
            <a:lvl7pPr>
              <a:defRPr sz="1650" b="1">
                <a:solidFill>
                  <a:srgbClr val="A6BAC1"/>
                </a:solidFill>
                <a:latin typeface="Arial"/>
                <a:ea typeface="Arial"/>
                <a:cs typeface="Arial"/>
              </a:defRPr>
            </a:lvl7pPr>
            <a:lvl8pPr>
              <a:defRPr sz="1650" b="1">
                <a:solidFill>
                  <a:srgbClr val="A6BAC1"/>
                </a:solidFill>
                <a:latin typeface="Arial"/>
                <a:ea typeface="Arial"/>
                <a:cs typeface="Arial"/>
              </a:defRPr>
            </a:lvl8pPr>
            <a:lvl9pPr>
              <a:defRPr sz="1650" b="1">
                <a:solidFill>
                  <a:srgbClr val="A6BAC1"/>
                </a:solidFill>
                <a:latin typeface="Arial"/>
                <a:ea typeface="Arial"/>
                <a:cs typeface="Arial"/>
              </a:defRPr>
            </a:lvl9pPr>
          </a:lstStyle>
          <a:p xmlns:a="http://schemas.openxmlformats.org/drawingml/2006/main">
            <a:pPr>
              <a:defRPr sz="1650" b="1">
                <a:solidFill>
                  <a:srgbClr val="A6BAC1"/>
                </a:solidFill>
                <a:latin typeface="Arial"/>
                <a:ea typeface="Arial"/>
                <a:cs typeface="Arial"/>
              </a:defRPr>
            </a:pPr>
            <a:r>
              <a:rPr sz="1650" b="1">
                <a:solidFill>
                  <a:srgbClr val="A6BAC1"/>
                </a:solidFill>
                <a:latin typeface="Arial"/>
                <a:ea typeface="Arial"/>
                <a:cs typeface="Arial"/>
              </a:rPr>
              <a:t>CUSTOMER CEILING</a:t>
            </a:r>
          </a:p>
        </p:txBody>
      </p:sp>
      <p:sp>
        <p:nvSpPr>
          <p:cNvPr id="4" name="ceiling">
            <a:extLst xmlns:a="http://schemas.openxmlformats.org/drawingml/2006/main">
              <a:ext uri="{FF2B5EF4-FFF2-40B4-BE49-F238E27FC236}">
                <a16:creationId xmlns:a16="http://schemas.microsoft.com/office/drawing/2014/main" id="{B311275C-7C50-40E3-B26F-672573A30E69}"/>
              </a:ext>
            </a:extLst>
          </p:cNvPr>
          <p:cNvSpPr>
            <a:spLocks xmlns:a="http://schemas.openxmlformats.org/drawingml/2006/main" noGrp="1"/>
          </p:cNvSpPr>
          <p:nvPr/>
        </p:nvSpPr>
        <p:spPr>
          <a:xfrm xmlns:a="http://schemas.openxmlformats.org/drawingml/2006/main">
            <a:off x="609600" y="2209800"/>
            <a:ext cx="48577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00" b="1">
                <a:solidFill>
                  <a:srgbClr val="EFF5F1"/>
                </a:solidFill>
                <a:latin typeface="Arial"/>
                <a:ea typeface="Arial"/>
                <a:cs typeface="Arial"/>
              </a:defRPr>
            </a:defPPr>
            <a:lvl1pPr>
              <a:defRPr sz="5700" b="1">
                <a:solidFill>
                  <a:srgbClr val="EFF5F1"/>
                </a:solidFill>
                <a:latin typeface="Arial"/>
                <a:ea typeface="Arial"/>
                <a:cs typeface="Arial"/>
              </a:defRPr>
            </a:lvl1pPr>
            <a:lvl2pPr>
              <a:defRPr sz="5700" b="1">
                <a:solidFill>
                  <a:srgbClr val="EFF5F1"/>
                </a:solidFill>
                <a:latin typeface="Arial"/>
                <a:ea typeface="Arial"/>
                <a:cs typeface="Arial"/>
              </a:defRPr>
            </a:lvl2pPr>
            <a:lvl3pPr>
              <a:defRPr sz="5700" b="1">
                <a:solidFill>
                  <a:srgbClr val="EFF5F1"/>
                </a:solidFill>
                <a:latin typeface="Arial"/>
                <a:ea typeface="Arial"/>
                <a:cs typeface="Arial"/>
              </a:defRPr>
            </a:lvl3pPr>
            <a:lvl4pPr>
              <a:defRPr sz="5700" b="1">
                <a:solidFill>
                  <a:srgbClr val="EFF5F1"/>
                </a:solidFill>
                <a:latin typeface="Arial"/>
                <a:ea typeface="Arial"/>
                <a:cs typeface="Arial"/>
              </a:defRPr>
            </a:lvl4pPr>
            <a:lvl5pPr>
              <a:defRPr sz="5700" b="1">
                <a:solidFill>
                  <a:srgbClr val="EFF5F1"/>
                </a:solidFill>
                <a:latin typeface="Arial"/>
                <a:ea typeface="Arial"/>
                <a:cs typeface="Arial"/>
              </a:defRPr>
            </a:lvl5pPr>
            <a:lvl6pPr>
              <a:defRPr sz="5700" b="1">
                <a:solidFill>
                  <a:srgbClr val="EFF5F1"/>
                </a:solidFill>
                <a:latin typeface="Arial"/>
                <a:ea typeface="Arial"/>
                <a:cs typeface="Arial"/>
              </a:defRPr>
            </a:lvl6pPr>
            <a:lvl7pPr>
              <a:defRPr sz="5700" b="1">
                <a:solidFill>
                  <a:srgbClr val="EFF5F1"/>
                </a:solidFill>
                <a:latin typeface="Arial"/>
                <a:ea typeface="Arial"/>
                <a:cs typeface="Arial"/>
              </a:defRPr>
            </a:lvl7pPr>
            <a:lvl8pPr>
              <a:defRPr sz="5700" b="1">
                <a:solidFill>
                  <a:srgbClr val="EFF5F1"/>
                </a:solidFill>
                <a:latin typeface="Arial"/>
                <a:ea typeface="Arial"/>
                <a:cs typeface="Arial"/>
              </a:defRPr>
            </a:lvl8pPr>
            <a:lvl9pPr>
              <a:defRPr sz="5700" b="1">
                <a:solidFill>
                  <a:srgbClr val="EFF5F1"/>
                </a:solidFill>
                <a:latin typeface="Arial"/>
                <a:ea typeface="Arial"/>
                <a:cs typeface="Arial"/>
              </a:defRPr>
            </a:lvl9pPr>
          </a:lstStyle>
          <a:p xmlns:a="http://schemas.openxmlformats.org/drawingml/2006/main">
            <a:pPr>
              <a:defRPr sz="5700" b="1">
                <a:solidFill>
                  <a:srgbClr val="EFF5F1"/>
                </a:solidFill>
                <a:latin typeface="Arial"/>
                <a:ea typeface="Arial"/>
                <a:cs typeface="Arial"/>
              </a:defRPr>
            </a:pPr>
            <a:r>
              <a:rPr sz="5700" b="1">
                <a:solidFill>
                  <a:srgbClr val="EFF5F1"/>
                </a:solidFill>
                <a:latin typeface="Arial"/>
                <a:ea typeface="Arial"/>
                <a:cs typeface="Arial"/>
              </a:rPr>
              <a:t>€1,700</a:t>
            </a:r>
          </a:p>
        </p:txBody>
      </p:sp>
      <p:sp>
        <p:nvSpPr>
          <p:cNvPr id="5" name="agreed-label">
            <a:extLst xmlns:a="http://schemas.openxmlformats.org/drawingml/2006/main">
              <a:ext uri="{FF2B5EF4-FFF2-40B4-BE49-F238E27FC236}">
                <a16:creationId xmlns:a16="http://schemas.microsoft.com/office/drawing/2014/main" id="{BFF48BF3-3853-4F93-B1C4-0B930674B1CB}"/>
              </a:ext>
            </a:extLst>
          </p:cNvPr>
          <p:cNvSpPr>
            <a:spLocks xmlns:a="http://schemas.openxmlformats.org/drawingml/2006/main" noGrp="1"/>
          </p:cNvSpPr>
          <p:nvPr/>
        </p:nvSpPr>
        <p:spPr>
          <a:xfrm xmlns:a="http://schemas.openxmlformats.org/drawingml/2006/main">
            <a:off x="6353175" y="1819275"/>
            <a:ext cx="522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A4E3C3"/>
                </a:solidFill>
                <a:latin typeface="Arial"/>
                <a:ea typeface="Arial"/>
                <a:cs typeface="Arial"/>
              </a:defRPr>
            </a:defPPr>
            <a:lvl1pPr>
              <a:defRPr sz="1650" b="1">
                <a:solidFill>
                  <a:srgbClr val="A4E3C3"/>
                </a:solidFill>
                <a:latin typeface="Arial"/>
                <a:ea typeface="Arial"/>
                <a:cs typeface="Arial"/>
              </a:defRPr>
            </a:lvl1pPr>
            <a:lvl2pPr>
              <a:defRPr sz="1650" b="1">
                <a:solidFill>
                  <a:srgbClr val="A4E3C3"/>
                </a:solidFill>
                <a:latin typeface="Arial"/>
                <a:ea typeface="Arial"/>
                <a:cs typeface="Arial"/>
              </a:defRPr>
            </a:lvl2pPr>
            <a:lvl3pPr>
              <a:defRPr sz="1650" b="1">
                <a:solidFill>
                  <a:srgbClr val="A4E3C3"/>
                </a:solidFill>
                <a:latin typeface="Arial"/>
                <a:ea typeface="Arial"/>
                <a:cs typeface="Arial"/>
              </a:defRPr>
            </a:lvl3pPr>
            <a:lvl4pPr>
              <a:defRPr sz="1650" b="1">
                <a:solidFill>
                  <a:srgbClr val="A4E3C3"/>
                </a:solidFill>
                <a:latin typeface="Arial"/>
                <a:ea typeface="Arial"/>
                <a:cs typeface="Arial"/>
              </a:defRPr>
            </a:lvl4pPr>
            <a:lvl5pPr>
              <a:defRPr sz="1650" b="1">
                <a:solidFill>
                  <a:srgbClr val="A4E3C3"/>
                </a:solidFill>
                <a:latin typeface="Arial"/>
                <a:ea typeface="Arial"/>
                <a:cs typeface="Arial"/>
              </a:defRPr>
            </a:lvl5pPr>
            <a:lvl6pPr>
              <a:defRPr sz="1650" b="1">
                <a:solidFill>
                  <a:srgbClr val="A4E3C3"/>
                </a:solidFill>
                <a:latin typeface="Arial"/>
                <a:ea typeface="Arial"/>
                <a:cs typeface="Arial"/>
              </a:defRPr>
            </a:lvl6pPr>
            <a:lvl7pPr>
              <a:defRPr sz="1650" b="1">
                <a:solidFill>
                  <a:srgbClr val="A4E3C3"/>
                </a:solidFill>
                <a:latin typeface="Arial"/>
                <a:ea typeface="Arial"/>
                <a:cs typeface="Arial"/>
              </a:defRPr>
            </a:lvl7pPr>
            <a:lvl8pPr>
              <a:defRPr sz="1650" b="1">
                <a:solidFill>
                  <a:srgbClr val="A4E3C3"/>
                </a:solidFill>
                <a:latin typeface="Arial"/>
                <a:ea typeface="Arial"/>
                <a:cs typeface="Arial"/>
              </a:defRPr>
            </a:lvl8pPr>
            <a:lvl9pPr>
              <a:defRPr sz="1650" b="1">
                <a:solidFill>
                  <a:srgbClr val="A4E3C3"/>
                </a:solidFill>
                <a:latin typeface="Arial"/>
                <a:ea typeface="Arial"/>
                <a:cs typeface="Arial"/>
              </a:defRPr>
            </a:lvl9pPr>
          </a:lstStyle>
          <a:p xmlns:a="http://schemas.openxmlformats.org/drawingml/2006/main">
            <a:pPr>
              <a:defRPr sz="1650" b="1">
                <a:solidFill>
                  <a:srgbClr val="A4E3C3"/>
                </a:solidFill>
                <a:latin typeface="Arial"/>
                <a:ea typeface="Arial"/>
                <a:cs typeface="Arial"/>
              </a:defRPr>
            </a:pPr>
            <a:r>
              <a:rPr sz="1650" b="1">
                <a:solidFill>
                  <a:srgbClr val="A4E3C3"/>
                </a:solidFill>
                <a:latin typeface="Arial"/>
                <a:ea typeface="Arial"/>
                <a:cs typeface="Arial"/>
              </a:rPr>
              <a:t>GEMINI AGREEMENT</a:t>
            </a:r>
          </a:p>
        </p:txBody>
      </p:sp>
      <p:sp>
        <p:nvSpPr>
          <p:cNvPr id="6" name="agreed">
            <a:extLst xmlns:a="http://schemas.openxmlformats.org/drawingml/2006/main">
              <a:ext uri="{FF2B5EF4-FFF2-40B4-BE49-F238E27FC236}">
                <a16:creationId xmlns:a16="http://schemas.microsoft.com/office/drawing/2014/main" id="{35C02EFC-3F81-452C-A858-B0AB4D798E45}"/>
              </a:ext>
            </a:extLst>
          </p:cNvPr>
          <p:cNvSpPr>
            <a:spLocks xmlns:a="http://schemas.openxmlformats.org/drawingml/2006/main" noGrp="1"/>
          </p:cNvSpPr>
          <p:nvPr/>
        </p:nvSpPr>
        <p:spPr>
          <a:xfrm xmlns:a="http://schemas.openxmlformats.org/drawingml/2006/main">
            <a:off x="6353175" y="2209800"/>
            <a:ext cx="52292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00" b="1">
                <a:solidFill>
                  <a:srgbClr val="A4E3C3"/>
                </a:solidFill>
                <a:latin typeface="Arial"/>
                <a:ea typeface="Arial"/>
                <a:cs typeface="Arial"/>
              </a:defRPr>
            </a:defPPr>
            <a:lvl1pPr>
              <a:defRPr sz="5700" b="1">
                <a:solidFill>
                  <a:srgbClr val="A4E3C3"/>
                </a:solidFill>
                <a:latin typeface="Arial"/>
                <a:ea typeface="Arial"/>
                <a:cs typeface="Arial"/>
              </a:defRPr>
            </a:lvl1pPr>
            <a:lvl2pPr>
              <a:defRPr sz="5700" b="1">
                <a:solidFill>
                  <a:srgbClr val="A4E3C3"/>
                </a:solidFill>
                <a:latin typeface="Arial"/>
                <a:ea typeface="Arial"/>
                <a:cs typeface="Arial"/>
              </a:defRPr>
            </a:lvl2pPr>
            <a:lvl3pPr>
              <a:defRPr sz="5700" b="1">
                <a:solidFill>
                  <a:srgbClr val="A4E3C3"/>
                </a:solidFill>
                <a:latin typeface="Arial"/>
                <a:ea typeface="Arial"/>
                <a:cs typeface="Arial"/>
              </a:defRPr>
            </a:lvl3pPr>
            <a:lvl4pPr>
              <a:defRPr sz="5700" b="1">
                <a:solidFill>
                  <a:srgbClr val="A4E3C3"/>
                </a:solidFill>
                <a:latin typeface="Arial"/>
                <a:ea typeface="Arial"/>
                <a:cs typeface="Arial"/>
              </a:defRPr>
            </a:lvl4pPr>
            <a:lvl5pPr>
              <a:defRPr sz="5700" b="1">
                <a:solidFill>
                  <a:srgbClr val="A4E3C3"/>
                </a:solidFill>
                <a:latin typeface="Arial"/>
                <a:ea typeface="Arial"/>
                <a:cs typeface="Arial"/>
              </a:defRPr>
            </a:lvl5pPr>
            <a:lvl6pPr>
              <a:defRPr sz="5700" b="1">
                <a:solidFill>
                  <a:srgbClr val="A4E3C3"/>
                </a:solidFill>
                <a:latin typeface="Arial"/>
                <a:ea typeface="Arial"/>
                <a:cs typeface="Arial"/>
              </a:defRPr>
            </a:lvl6pPr>
            <a:lvl7pPr>
              <a:defRPr sz="5700" b="1">
                <a:solidFill>
                  <a:srgbClr val="A4E3C3"/>
                </a:solidFill>
                <a:latin typeface="Arial"/>
                <a:ea typeface="Arial"/>
                <a:cs typeface="Arial"/>
              </a:defRPr>
            </a:lvl7pPr>
            <a:lvl8pPr>
              <a:defRPr sz="5700" b="1">
                <a:solidFill>
                  <a:srgbClr val="A4E3C3"/>
                </a:solidFill>
                <a:latin typeface="Arial"/>
                <a:ea typeface="Arial"/>
                <a:cs typeface="Arial"/>
              </a:defRPr>
            </a:lvl8pPr>
            <a:lvl9pPr>
              <a:defRPr sz="5700" b="1">
                <a:solidFill>
                  <a:srgbClr val="A4E3C3"/>
                </a:solidFill>
                <a:latin typeface="Arial"/>
                <a:ea typeface="Arial"/>
                <a:cs typeface="Arial"/>
              </a:defRPr>
            </a:lvl9pPr>
          </a:lstStyle>
          <a:p xmlns:a="http://schemas.openxmlformats.org/drawingml/2006/main">
            <a:pPr>
              <a:defRPr sz="5700" b="1">
                <a:solidFill>
                  <a:srgbClr val="A4E3C3"/>
                </a:solidFill>
                <a:latin typeface="Arial"/>
                <a:ea typeface="Arial"/>
                <a:cs typeface="Arial"/>
              </a:defRPr>
            </a:pPr>
            <a:r>
              <a:rPr sz="5700" b="1">
                <a:solidFill>
                  <a:srgbClr val="A4E3C3"/>
                </a:solidFill>
                <a:latin typeface="Arial"/>
                <a:ea typeface="Arial"/>
                <a:cs typeface="Arial"/>
              </a:rPr>
              <a:t>€1,650</a:t>
            </a:r>
          </a:p>
        </p:txBody>
      </p:sp>
      <p:graphicFrame>
        <p:nvGraphicFramePr>
          <p:cNvPr id="7" name="">
            <a:extLst xmlns:a="http://schemas.openxmlformats.org/drawingml/2006/main">
              <a:ext uri="{FF2B5EF4-FFF2-40B4-BE49-F238E27FC236}">
                <a16:creationId xmlns:a16="http://schemas.microsoft.com/office/drawing/2014/main" id="{0BD73E26-43F9-4A7C-A94E-2D5723B99450}"/>
              </a:ext>
            </a:extLst>
          </p:cNvPr>
          <p:cNvGraphicFramePr/>
          <p:nvPr/>
        </p:nvGraphicFramePr>
        <p:xfrm>
          <a:off xmlns:a="http://schemas.openxmlformats.org/drawingml/2006/main" x="609600" y="3190875"/>
          <a:ext xmlns:a="http://schemas.openxmlformats.org/drawingml/2006/main" cx="10972800" cy="2552700"/>
        </p:xfrm>
        <a:graphic xmlns:a="http://schemas.openxmlformats.org/drawingml/2006/main">
          <a:graphicData uri="http://schemas.openxmlformats.org/drawingml/2006/table">
            <a:tbl>
              <a:tblPr firstRow="1" bandRow="0"/>
              <a:tblGrid>
                <a:gridCol w="8096250"/>
                <a:gridCol w="2876550"/>
              </a:tblGrid>
              <a:tr h="425450">
                <a:tc>
                  <a:txBody>
                    <a:bodyPr/>
                    <a:lstStyle/>
                    <a:p>
                      <a:r>
                        <a:rPr sz="1950" b="1">
                          <a:solidFill>
                            <a:srgbClr val="A4E3C3"/>
                          </a:solidFill>
                          <a:latin typeface="Arial"/>
                          <a:ea typeface="Arial"/>
                          <a:cs typeface="Arial"/>
                        </a:rPr>
                        <a:t>Allocation</a:t>
                      </a:r>
                    </a:p>
                  </a:txBody>
                  <a:tcPr marL="171450" marR="1714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950" b="1">
                          <a:solidFill>
                            <a:srgbClr val="A4E3C3"/>
                          </a:solidFill>
                          <a:latin typeface="Arial"/>
                          <a:ea typeface="Arial"/>
                          <a:cs typeface="Arial"/>
                        </a:rPr>
                        <a:t>Amount</a:t>
                      </a:r>
                    </a:p>
                  </a:txBody>
                  <a:tcPr marL="171450" marR="1714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425450">
                <a:tc>
                  <a:txBody>
                    <a:bodyPr/>
                    <a:lstStyle/>
                    <a:p>
                      <a:r>
                        <a:rPr sz="1950">
                          <a:solidFill>
                            <a:srgbClr val="EFF5F1"/>
                          </a:solidFill>
                          <a:latin typeface="Arial"/>
                          <a:ea typeface="Arial"/>
                          <a:cs typeface="Arial"/>
                        </a:rPr>
                        <a:t>Private astronomy guide</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€425</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r h="425450">
                <a:tc>
                  <a:txBody>
                    <a:bodyPr/>
                    <a:lstStyle/>
                    <a:p>
                      <a:r>
                        <a:rPr sz="1950">
                          <a:solidFill>
                            <a:srgbClr val="EFF5F1"/>
                          </a:solidFill>
                          <a:latin typeface="Arial"/>
                          <a:ea typeface="Arial"/>
                          <a:cs typeface="Arial"/>
                        </a:rPr>
                        <a:t>Telescope and observation equipment</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€620</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r h="425450">
                <a:tc>
                  <a:txBody>
                    <a:bodyPr/>
                    <a:lstStyle/>
                    <a:p>
                      <a:r>
                        <a:rPr sz="1950">
                          <a:solidFill>
                            <a:srgbClr val="EFF5F1"/>
                          </a:solidFill>
                          <a:latin typeface="Arial"/>
                          <a:ea typeface="Arial"/>
                          <a:cs typeface="Arial"/>
                        </a:rPr>
                        <a:t>Private transport</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€425</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r h="425450">
                <a:tc>
                  <a:txBody>
                    <a:bodyPr/>
                    <a:lstStyle/>
                    <a:p>
                      <a:r>
                        <a:rPr sz="1950">
                          <a:solidFill>
                            <a:srgbClr val="EFF5F1"/>
                          </a:solidFill>
                          <a:latin typeface="Arial"/>
                          <a:ea typeface="Arial"/>
                          <a:cs typeface="Arial"/>
                        </a:rPr>
                        <a:t>Organizer coordination</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€180</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r h="425450">
                <a:tc>
                  <a:txBody>
                    <a:bodyPr/>
                    <a:lstStyle/>
                    <a:p>
                      <a:r>
                        <a:rPr sz="1950" b="1">
                          <a:solidFill>
                            <a:srgbClr val="A4E3C3"/>
                          </a:solidFill>
                          <a:latin typeface="Arial"/>
                          <a:ea typeface="Arial"/>
                          <a:cs typeface="Arial"/>
                        </a:rPr>
                        <a:t>Total</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b="1">
                          <a:solidFill>
                            <a:srgbClr val="A4E3C3"/>
                          </a:solidFill>
                          <a:latin typeface="Arial"/>
                          <a:ea typeface="Arial"/>
                          <a:cs typeface="Arial"/>
                        </a:rPr>
                        <a:t>€1,650</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8" name="disclosure">
            <a:extLst xmlns:a="http://schemas.openxmlformats.org/drawingml/2006/main">
              <a:ext uri="{FF2B5EF4-FFF2-40B4-BE49-F238E27FC236}">
                <a16:creationId xmlns:a16="http://schemas.microsoft.com/office/drawing/2014/main" id="{466FE0DB-43F9-42C6-AAE2-6343D25B6C64}"/>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DFBF7E"/>
                </a:solidFill>
                <a:latin typeface="Arial"/>
                <a:ea typeface="Arial"/>
                <a:cs typeface="Arial"/>
              </a:defRPr>
            </a:defPPr>
            <a:lvl1pPr>
              <a:defRPr sz="1425" b="0">
                <a:solidFill>
                  <a:srgbClr val="DFBF7E"/>
                </a:solidFill>
                <a:latin typeface="Arial"/>
                <a:ea typeface="Arial"/>
                <a:cs typeface="Arial"/>
              </a:defRPr>
            </a:lvl1pPr>
            <a:lvl2pPr>
              <a:defRPr sz="1425" b="0">
                <a:solidFill>
                  <a:srgbClr val="DFBF7E"/>
                </a:solidFill>
                <a:latin typeface="Arial"/>
                <a:ea typeface="Arial"/>
                <a:cs typeface="Arial"/>
              </a:defRPr>
            </a:lvl2pPr>
            <a:lvl3pPr>
              <a:defRPr sz="1425" b="0">
                <a:solidFill>
                  <a:srgbClr val="DFBF7E"/>
                </a:solidFill>
                <a:latin typeface="Arial"/>
                <a:ea typeface="Arial"/>
                <a:cs typeface="Arial"/>
              </a:defRPr>
            </a:lvl3pPr>
            <a:lvl4pPr>
              <a:defRPr sz="1425" b="0">
                <a:solidFill>
                  <a:srgbClr val="DFBF7E"/>
                </a:solidFill>
                <a:latin typeface="Arial"/>
                <a:ea typeface="Arial"/>
                <a:cs typeface="Arial"/>
              </a:defRPr>
            </a:lvl4pPr>
            <a:lvl5pPr>
              <a:defRPr sz="1425" b="0">
                <a:solidFill>
                  <a:srgbClr val="DFBF7E"/>
                </a:solidFill>
                <a:latin typeface="Arial"/>
                <a:ea typeface="Arial"/>
                <a:cs typeface="Arial"/>
              </a:defRPr>
            </a:lvl5pPr>
            <a:lvl6pPr>
              <a:defRPr sz="1425" b="0">
                <a:solidFill>
                  <a:srgbClr val="DFBF7E"/>
                </a:solidFill>
                <a:latin typeface="Arial"/>
                <a:ea typeface="Arial"/>
                <a:cs typeface="Arial"/>
              </a:defRPr>
            </a:lvl6pPr>
            <a:lvl7pPr>
              <a:defRPr sz="1425" b="0">
                <a:solidFill>
                  <a:srgbClr val="DFBF7E"/>
                </a:solidFill>
                <a:latin typeface="Arial"/>
                <a:ea typeface="Arial"/>
                <a:cs typeface="Arial"/>
              </a:defRPr>
            </a:lvl7pPr>
            <a:lvl8pPr>
              <a:defRPr sz="1425" b="0">
                <a:solidFill>
                  <a:srgbClr val="DFBF7E"/>
                </a:solidFill>
                <a:latin typeface="Arial"/>
                <a:ea typeface="Arial"/>
                <a:cs typeface="Arial"/>
              </a:defRPr>
            </a:lvl8pPr>
            <a:lvl9pPr>
              <a:defRPr sz="1425" b="0">
                <a:solidFill>
                  <a:srgbClr val="DFBF7E"/>
                </a:solidFill>
                <a:latin typeface="Arial"/>
                <a:ea typeface="Arial"/>
                <a:cs typeface="Arial"/>
              </a:defRPr>
            </a:lvl9pPr>
          </a:lstStyle>
          <a:p xmlns:a="http://schemas.openxmlformats.org/drawingml/2006/main">
            <a:pPr>
              <a:defRPr sz="1425" b="0">
                <a:solidFill>
                  <a:srgbClr val="DFBF7E"/>
                </a:solidFill>
                <a:latin typeface="Arial"/>
                <a:ea typeface="Arial"/>
                <a:cs typeface="Arial"/>
              </a:defRPr>
            </a:pPr>
            <a:r>
              <a:rPr sz="1425" b="0">
                <a:solidFill>
                  <a:srgbClr val="DFBF7E"/>
                </a:solidFill>
                <a:latin typeface="Arial"/>
                <a:ea typeface="Arial"/>
                <a:cs typeface="Arial"/>
              </a:rPr>
              <a:t>3 actual Gemini requests. Recorded 23 Oct 2026. Simulated inventory and weather.</a:t>
            </a:r>
          </a:p>
        </p:txBody>
      </p:sp>
    </p:spTree>
    <p:extLst>
      <p:ext uri="{BB962C8B-B14F-4D97-AF65-F5344CB8AC3E}">
        <p14:creationId xmlns:p14="http://schemas.microsoft.com/office/powerpoint/2010/main" val="1779471130"/>
      </p:ext>
    </p:extLst>
  </p:cSld>
</p:sld>
</file>

<file path=ppt/slides/slide4.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6367672-569D-4AFE-B616-91935B576D52}"/>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defRPr sz="3600" b="1">
                <a:solidFill>
                  <a:srgbClr val="EFF5F1"/>
                </a:solidFill>
                <a:latin typeface="Arial"/>
                <a:ea typeface="Arial"/>
                <a:cs typeface="Arial"/>
              </a:defRPr>
            </a:lvl1pPr>
            <a:lvl2pPr>
              <a:defRPr sz="3600" b="1">
                <a:solidFill>
                  <a:srgbClr val="EFF5F1"/>
                </a:solidFill>
                <a:latin typeface="Arial"/>
                <a:ea typeface="Arial"/>
                <a:cs typeface="Arial"/>
              </a:defRPr>
            </a:lvl2pPr>
            <a:lvl3pPr>
              <a:defRPr sz="3600" b="1">
                <a:solidFill>
                  <a:srgbClr val="EFF5F1"/>
                </a:solidFill>
                <a:latin typeface="Arial"/>
                <a:ea typeface="Arial"/>
                <a:cs typeface="Arial"/>
              </a:defRPr>
            </a:lvl3pPr>
            <a:lvl4pPr>
              <a:defRPr sz="3600" b="1">
                <a:solidFill>
                  <a:srgbClr val="EFF5F1"/>
                </a:solidFill>
                <a:latin typeface="Arial"/>
                <a:ea typeface="Arial"/>
                <a:cs typeface="Arial"/>
              </a:defRPr>
            </a:lvl4pPr>
            <a:lvl5pPr>
              <a:defRPr sz="3600" b="1">
                <a:solidFill>
                  <a:srgbClr val="EFF5F1"/>
                </a:solidFill>
                <a:latin typeface="Arial"/>
                <a:ea typeface="Arial"/>
                <a:cs typeface="Arial"/>
              </a:defRPr>
            </a:lvl5pPr>
            <a:lvl6pPr>
              <a:defRPr sz="3600" b="1">
                <a:solidFill>
                  <a:srgbClr val="EFF5F1"/>
                </a:solidFill>
                <a:latin typeface="Arial"/>
                <a:ea typeface="Arial"/>
                <a:cs typeface="Arial"/>
              </a:defRPr>
            </a:lvl6pPr>
            <a:lvl7pPr>
              <a:defRPr sz="3600" b="1">
                <a:solidFill>
                  <a:srgbClr val="EFF5F1"/>
                </a:solidFill>
                <a:latin typeface="Arial"/>
                <a:ea typeface="Arial"/>
                <a:cs typeface="Arial"/>
              </a:defRPr>
            </a:lvl7pPr>
            <a:lvl8pPr>
              <a:defRPr sz="3600" b="1">
                <a:solidFill>
                  <a:srgbClr val="EFF5F1"/>
                </a:solidFill>
                <a:latin typeface="Arial"/>
                <a:ea typeface="Arial"/>
                <a:cs typeface="Arial"/>
              </a:defRPr>
            </a:lvl8pPr>
            <a:lvl9pPr>
              <a:defRPr sz="3600" b="1">
                <a:solidFill>
                  <a:srgbClr val="EFF5F1"/>
                </a:solidFill>
                <a:latin typeface="Arial"/>
                <a:ea typeface="Arial"/>
                <a:cs typeface="Arial"/>
              </a:defRPr>
            </a:lvl9pPr>
          </a:lstStyle>
          <a:p xmlns:a="http://schemas.openxmlformats.org/drawingml/2006/main">
            <a:pPr>
              <a:defRPr sz="3600" b="1">
                <a:solidFill>
                  <a:srgbClr val="EFF5F1"/>
                </a:solidFill>
                <a:latin typeface="Arial"/>
                <a:ea typeface="Arial"/>
                <a:cs typeface="Arial"/>
              </a:defRPr>
            </a:pPr>
            <a:r>
              <a:rPr sz="3600" b="1">
                <a:solidFill>
                  <a:srgbClr val="EFF5F1"/>
                </a:solidFill>
                <a:latin typeface="Arial"/>
                <a:ea typeface="Arial"/>
                <a:cs typeface="Arial"/>
              </a:rPr>
              <a:t>Models propose. The server controls payment.</a:t>
            </a:r>
          </a:p>
        </p:txBody>
      </p:sp>
      <p:sp>
        <p:nvSpPr>
          <p:cNvPr id="2" name="page">
            <a:extLst xmlns:a="http://schemas.openxmlformats.org/drawingml/2006/main">
              <a:ext uri="{FF2B5EF4-FFF2-40B4-BE49-F238E27FC236}">
                <a16:creationId xmlns:a16="http://schemas.microsoft.com/office/drawing/2014/main" id="{A69D4514-5CB9-4A84-A9EC-588DD60432DD}"/>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defRPr sz="1200" b="0">
                <a:solidFill>
                  <a:srgbClr val="A6BAC1"/>
                </a:solidFill>
                <a:latin typeface="Arial"/>
                <a:ea typeface="Arial"/>
                <a:cs typeface="Arial"/>
              </a:defRPr>
            </a:lvl1pPr>
            <a:lvl2pPr>
              <a:defRPr sz="1200" b="0">
                <a:solidFill>
                  <a:srgbClr val="A6BAC1"/>
                </a:solidFill>
                <a:latin typeface="Arial"/>
                <a:ea typeface="Arial"/>
                <a:cs typeface="Arial"/>
              </a:defRPr>
            </a:lvl2pPr>
            <a:lvl3pPr>
              <a:defRPr sz="1200" b="0">
                <a:solidFill>
                  <a:srgbClr val="A6BAC1"/>
                </a:solidFill>
                <a:latin typeface="Arial"/>
                <a:ea typeface="Arial"/>
                <a:cs typeface="Arial"/>
              </a:defRPr>
            </a:lvl3pPr>
            <a:lvl4pPr>
              <a:defRPr sz="1200" b="0">
                <a:solidFill>
                  <a:srgbClr val="A6BAC1"/>
                </a:solidFill>
                <a:latin typeface="Arial"/>
                <a:ea typeface="Arial"/>
                <a:cs typeface="Arial"/>
              </a:defRPr>
            </a:lvl4pPr>
            <a:lvl5pPr>
              <a:defRPr sz="1200" b="0">
                <a:solidFill>
                  <a:srgbClr val="A6BAC1"/>
                </a:solidFill>
                <a:latin typeface="Arial"/>
                <a:ea typeface="Arial"/>
                <a:cs typeface="Arial"/>
              </a:defRPr>
            </a:lvl5pPr>
            <a:lvl6pPr>
              <a:defRPr sz="1200" b="0">
                <a:solidFill>
                  <a:srgbClr val="A6BAC1"/>
                </a:solidFill>
                <a:latin typeface="Arial"/>
                <a:ea typeface="Arial"/>
                <a:cs typeface="Arial"/>
              </a:defRPr>
            </a:lvl6pPr>
            <a:lvl7pPr>
              <a:defRPr sz="1200" b="0">
                <a:solidFill>
                  <a:srgbClr val="A6BAC1"/>
                </a:solidFill>
                <a:latin typeface="Arial"/>
                <a:ea typeface="Arial"/>
                <a:cs typeface="Arial"/>
              </a:defRPr>
            </a:lvl7pPr>
            <a:lvl8pPr>
              <a:defRPr sz="1200" b="0">
                <a:solidFill>
                  <a:srgbClr val="A6BAC1"/>
                </a:solidFill>
                <a:latin typeface="Arial"/>
                <a:ea typeface="Arial"/>
                <a:cs typeface="Arial"/>
              </a:defRPr>
            </a:lvl8pPr>
            <a:lvl9pPr>
              <a:defRPr sz="1200" b="0">
                <a:solidFill>
                  <a:srgbClr val="A6BAC1"/>
                </a:solidFill>
                <a:latin typeface="Arial"/>
                <a:ea typeface="Arial"/>
                <a:cs typeface="Arial"/>
              </a:defRPr>
            </a:lvl9pPr>
          </a:lstStyle>
          <a:p xmlns:a="http://schemas.openxmlformats.org/drawingml/2006/main">
            <a:pPr>
              <a:defRPr sz="1200" b="0">
                <a:solidFill>
                  <a:srgbClr val="A6BAC1"/>
                </a:solidFill>
                <a:latin typeface="Arial"/>
                <a:ea typeface="Arial"/>
                <a:cs typeface="Arial"/>
              </a:defRPr>
            </a:pPr>
            <a:r>
              <a:rPr sz="1200" b="0">
                <a:solidFill>
                  <a:srgbClr val="A6BAC1"/>
                </a:solidFill>
                <a:latin typeface="Arial"/>
                <a:ea typeface="Arial"/>
                <a:cs typeface="Arial"/>
              </a:rPr>
              <a:t>04 / 10</a:t>
            </a:r>
          </a:p>
        </p:txBody>
      </p:sp>
      <p:graphicFrame>
        <p:nvGraphicFramePr>
          <p:cNvPr id="3" name="">
            <a:extLst xmlns:a="http://schemas.openxmlformats.org/drawingml/2006/main">
              <a:ext uri="{FF2B5EF4-FFF2-40B4-BE49-F238E27FC236}">
                <a16:creationId xmlns:a16="http://schemas.microsoft.com/office/drawing/2014/main" id="{CCDF5541-348B-4752-A51C-C604E80C17F4}"/>
              </a:ext>
            </a:extLst>
          </p:cNvPr>
          <p:cNvGraphicFramePr/>
          <p:nvPr/>
        </p:nvGraphicFramePr>
        <p:xfrm>
          <a:off xmlns:a="http://schemas.openxmlformats.org/drawingml/2006/main" x="609600" y="1895475"/>
          <a:ext xmlns:a="http://schemas.openxmlformats.org/drawingml/2006/main" cx="10972800" cy="3438525"/>
        </p:xfrm>
        <a:graphic xmlns:a="http://schemas.openxmlformats.org/drawingml/2006/main">
          <a:graphicData uri="http://schemas.openxmlformats.org/drawingml/2006/table">
            <a:tbl>
              <a:tblPr firstRow="1" bandRow="0"/>
              <a:tblGrid>
                <a:gridCol w="3429000"/>
                <a:gridCol w="7543800"/>
              </a:tblGrid>
              <a:tr h="573088">
                <a:tc>
                  <a:txBody>
                    <a:bodyPr/>
                    <a:lstStyle/>
                    <a:p>
                      <a:r>
                        <a:rPr sz="1875" b="1">
                          <a:solidFill>
                            <a:srgbClr val="A4E3C3"/>
                          </a:solidFill>
                          <a:latin typeface="Arial"/>
                          <a:ea typeface="Arial"/>
                          <a:cs typeface="Arial"/>
                        </a:rPr>
                        <a:t>Layer</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75" b="1">
                          <a:solidFill>
                            <a:srgbClr val="A4E3C3"/>
                          </a:solidFill>
                          <a:latin typeface="Arial"/>
                          <a:ea typeface="Arial"/>
                          <a:cs typeface="Arial"/>
                        </a:rPr>
                        <a:t>Authority</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73088">
                <a:tc>
                  <a:txBody>
                    <a:bodyPr/>
                    <a:lstStyle/>
                    <a:p>
                      <a:r>
                        <a:rPr sz="1875">
                          <a:solidFill>
                            <a:srgbClr val="EFF5F1"/>
                          </a:solidFill>
                          <a:latin typeface="Arial"/>
                          <a:ea typeface="Arial"/>
                          <a:cs typeface="Arial"/>
                        </a:rPr>
                        <a:t>Buyer and supplier agents</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Propose quotes within validated limits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73088">
                <a:tc>
                  <a:txBody>
                    <a:bodyPr/>
                    <a:lstStyle/>
                    <a:p>
                      <a:r>
                        <a:rPr sz="1875">
                          <a:solidFill>
                            <a:srgbClr val="EFF5F1"/>
                          </a:solidFill>
                          <a:latin typeface="Arial"/>
                          <a:ea typeface="Arial"/>
                          <a:cs typeface="Arial"/>
                        </a:rPr>
                        <a:t>Approved agreement</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Bind allocations and policy to the approved hash</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73088">
                <a:tc>
                  <a:txBody>
                    <a:bodyPr/>
                    <a:lstStyle/>
                    <a:p>
                      <a:r>
                        <a:rPr sz="1875">
                          <a:solidFill>
                            <a:srgbClr val="EFF5F1"/>
                          </a:solidFill>
                          <a:latin typeface="Arial"/>
                          <a:ea typeface="Arial"/>
                          <a:cs typeface="Arial"/>
                        </a:rPr>
                        <a:t>Evidence policy</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Check completeness, freshness and thresholds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73088">
                <a:tc>
                  <a:txBody>
                    <a:bodyPr/>
                    <a:lstStyle/>
                    <a:p>
                      <a:r>
                        <a:rPr sz="1875">
                          <a:solidFill>
                            <a:srgbClr val="EFF5F1"/>
                          </a:solidFill>
                          <a:latin typeface="Arial"/>
                          <a:ea typeface="Arial"/>
                          <a:cs typeface="Arial"/>
                        </a:rPr>
                        <a:t>Payment engine</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Authorize, capture or void. Reconcile uncertainty.</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73088">
                <a:tc>
                  <a:txBody>
                    <a:bodyPr/>
                    <a:lstStyle/>
                    <a:p>
                      <a:r>
                        <a:rPr sz="1875">
                          <a:solidFill>
                            <a:srgbClr val="EFF5F1"/>
                          </a:solidFill>
                          <a:latin typeface="Arial"/>
                          <a:ea typeface="Arial"/>
                          <a:cs typeface="Arial"/>
                        </a:rPr>
                        <a:t>SQLite and Autopilot</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Persist operations and resume eligible jobs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4" name="model-limit">
            <a:extLst xmlns:a="http://schemas.openxmlformats.org/drawingml/2006/main">
              <a:ext uri="{FF2B5EF4-FFF2-40B4-BE49-F238E27FC236}">
                <a16:creationId xmlns:a16="http://schemas.microsoft.com/office/drawing/2014/main" id="{7F0BE455-6683-4533-9C59-6FF9BB9FC06F}"/>
              </a:ext>
            </a:extLst>
          </p:cNvPr>
          <p:cNvSpPr>
            <a:spLocks xmlns:a="http://schemas.openxmlformats.org/drawingml/2006/main" noGrp="1"/>
          </p:cNvSpPr>
          <p:nvPr/>
        </p:nvSpPr>
        <p:spPr>
          <a:xfrm xmlns:a="http://schemas.openxmlformats.org/drawingml/2006/main">
            <a:off x="609600" y="5610225"/>
            <a:ext cx="1090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A4E3C3"/>
                </a:solidFill>
                <a:latin typeface="Arial"/>
                <a:ea typeface="Arial"/>
                <a:cs typeface="Arial"/>
              </a:defRPr>
            </a:defPPr>
            <a:lvl1pPr>
              <a:defRPr sz="2025" b="1">
                <a:solidFill>
                  <a:srgbClr val="A4E3C3"/>
                </a:solidFill>
                <a:latin typeface="Arial"/>
                <a:ea typeface="Arial"/>
                <a:cs typeface="Arial"/>
              </a:defRPr>
            </a:lvl1pPr>
            <a:lvl2pPr>
              <a:defRPr sz="2025" b="1">
                <a:solidFill>
                  <a:srgbClr val="A4E3C3"/>
                </a:solidFill>
                <a:latin typeface="Arial"/>
                <a:ea typeface="Arial"/>
                <a:cs typeface="Arial"/>
              </a:defRPr>
            </a:lvl2pPr>
            <a:lvl3pPr>
              <a:defRPr sz="2025" b="1">
                <a:solidFill>
                  <a:srgbClr val="A4E3C3"/>
                </a:solidFill>
                <a:latin typeface="Arial"/>
                <a:ea typeface="Arial"/>
                <a:cs typeface="Arial"/>
              </a:defRPr>
            </a:lvl3pPr>
            <a:lvl4pPr>
              <a:defRPr sz="2025" b="1">
                <a:solidFill>
                  <a:srgbClr val="A4E3C3"/>
                </a:solidFill>
                <a:latin typeface="Arial"/>
                <a:ea typeface="Arial"/>
                <a:cs typeface="Arial"/>
              </a:defRPr>
            </a:lvl4pPr>
            <a:lvl5pPr>
              <a:defRPr sz="2025" b="1">
                <a:solidFill>
                  <a:srgbClr val="A4E3C3"/>
                </a:solidFill>
                <a:latin typeface="Arial"/>
                <a:ea typeface="Arial"/>
                <a:cs typeface="Arial"/>
              </a:defRPr>
            </a:lvl5pPr>
            <a:lvl6pPr>
              <a:defRPr sz="2025" b="1">
                <a:solidFill>
                  <a:srgbClr val="A4E3C3"/>
                </a:solidFill>
                <a:latin typeface="Arial"/>
                <a:ea typeface="Arial"/>
                <a:cs typeface="Arial"/>
              </a:defRPr>
            </a:lvl6pPr>
            <a:lvl7pPr>
              <a:defRPr sz="2025" b="1">
                <a:solidFill>
                  <a:srgbClr val="A4E3C3"/>
                </a:solidFill>
                <a:latin typeface="Arial"/>
                <a:ea typeface="Arial"/>
                <a:cs typeface="Arial"/>
              </a:defRPr>
            </a:lvl7pPr>
            <a:lvl8pPr>
              <a:defRPr sz="2025" b="1">
                <a:solidFill>
                  <a:srgbClr val="A4E3C3"/>
                </a:solidFill>
                <a:latin typeface="Arial"/>
                <a:ea typeface="Arial"/>
                <a:cs typeface="Arial"/>
              </a:defRPr>
            </a:lvl8pPr>
            <a:lvl9pPr>
              <a:defRPr sz="2025" b="1">
                <a:solidFill>
                  <a:srgbClr val="A4E3C3"/>
                </a:solidFill>
                <a:latin typeface="Arial"/>
                <a:ea typeface="Arial"/>
                <a:cs typeface="Arial"/>
              </a:defRPr>
            </a:lvl9pPr>
          </a:lstStyle>
          <a:p xmlns:a="http://schemas.openxmlformats.org/drawingml/2006/main">
            <a:pPr>
              <a:defRPr sz="2025" b="1">
                <a:solidFill>
                  <a:srgbClr val="A4E3C3"/>
                </a:solidFill>
                <a:latin typeface="Arial"/>
                <a:ea typeface="Arial"/>
                <a:cs typeface="Arial"/>
              </a:defRPr>
            </a:pPr>
            <a:r>
              <a:rPr sz="2025" b="1">
                <a:solidFill>
                  <a:srgbClr val="A4E3C3"/>
                </a:solidFill>
                <a:latin typeface="Arial"/>
                <a:ea typeface="Arial"/>
                <a:cs typeface="Arial"/>
              </a:rPr>
              <a:t>The model receives a quote tool. Payment tools and secrets stay on the server.</a:t>
            </a:r>
          </a:p>
        </p:txBody>
      </p:sp>
      <p:sp>
        <p:nvSpPr>
          <p:cNvPr id="5" name="disclosure">
            <a:extLst xmlns:a="http://schemas.openxmlformats.org/drawingml/2006/main">
              <a:ext uri="{FF2B5EF4-FFF2-40B4-BE49-F238E27FC236}">
                <a16:creationId xmlns:a16="http://schemas.microsoft.com/office/drawing/2014/main" id="{759AF829-B0DF-4ABE-AB14-6AD54464C01F}"/>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defRPr sz="1425" b="0">
                <a:solidFill>
                  <a:srgbClr val="A6BAC1"/>
                </a:solidFill>
                <a:latin typeface="Arial"/>
                <a:ea typeface="Arial"/>
                <a:cs typeface="Arial"/>
              </a:defRPr>
            </a:lvl1pPr>
            <a:lvl2pPr>
              <a:defRPr sz="1425" b="0">
                <a:solidFill>
                  <a:srgbClr val="A6BAC1"/>
                </a:solidFill>
                <a:latin typeface="Arial"/>
                <a:ea typeface="Arial"/>
                <a:cs typeface="Arial"/>
              </a:defRPr>
            </a:lvl2pPr>
            <a:lvl3pPr>
              <a:defRPr sz="1425" b="0">
                <a:solidFill>
                  <a:srgbClr val="A6BAC1"/>
                </a:solidFill>
                <a:latin typeface="Arial"/>
                <a:ea typeface="Arial"/>
                <a:cs typeface="Arial"/>
              </a:defRPr>
            </a:lvl3pPr>
            <a:lvl4pPr>
              <a:defRPr sz="1425" b="0">
                <a:solidFill>
                  <a:srgbClr val="A6BAC1"/>
                </a:solidFill>
                <a:latin typeface="Arial"/>
                <a:ea typeface="Arial"/>
                <a:cs typeface="Arial"/>
              </a:defRPr>
            </a:lvl4pPr>
            <a:lvl5pPr>
              <a:defRPr sz="1425" b="0">
                <a:solidFill>
                  <a:srgbClr val="A6BAC1"/>
                </a:solidFill>
                <a:latin typeface="Arial"/>
                <a:ea typeface="Arial"/>
                <a:cs typeface="Arial"/>
              </a:defRPr>
            </a:lvl5pPr>
            <a:lvl6pPr>
              <a:defRPr sz="1425" b="0">
                <a:solidFill>
                  <a:srgbClr val="A6BAC1"/>
                </a:solidFill>
                <a:latin typeface="Arial"/>
                <a:ea typeface="Arial"/>
                <a:cs typeface="Arial"/>
              </a:defRPr>
            </a:lvl6pPr>
            <a:lvl7pPr>
              <a:defRPr sz="1425" b="0">
                <a:solidFill>
                  <a:srgbClr val="A6BAC1"/>
                </a:solidFill>
                <a:latin typeface="Arial"/>
                <a:ea typeface="Arial"/>
                <a:cs typeface="Arial"/>
              </a:defRPr>
            </a:lvl7pPr>
            <a:lvl8pPr>
              <a:defRPr sz="1425" b="0">
                <a:solidFill>
                  <a:srgbClr val="A6BAC1"/>
                </a:solidFill>
                <a:latin typeface="Arial"/>
                <a:ea typeface="Arial"/>
                <a:cs typeface="Arial"/>
              </a:defRPr>
            </a:lvl8pPr>
            <a:lvl9pPr>
              <a:defRPr sz="1425" b="0">
                <a:solidFill>
                  <a:srgbClr val="A6BAC1"/>
                </a:solidFill>
                <a:latin typeface="Arial"/>
                <a:ea typeface="Arial"/>
                <a:cs typeface="Arial"/>
              </a:defRPr>
            </a:lvl9pPr>
          </a:lstStyle>
          <a:p xmlns:a="http://schemas.openxmlformats.org/drawingml/2006/main">
            <a:pPr>
              <a:defRPr sz="1425" b="0">
                <a:solidFill>
                  <a:srgbClr val="A6BAC1"/>
                </a:solidFill>
                <a:latin typeface="Arial"/>
                <a:ea typeface="Arial"/>
                <a:cs typeface="Arial"/>
              </a:defRPr>
            </a:pPr>
            <a:r>
              <a:rPr sz="1425" b="0">
                <a:solidFill>
                  <a:srgbClr val="A6BAC1"/>
                </a:solidFill>
                <a:latin typeface="Arial"/>
                <a:ea typeface="Arial"/>
                <a:cs typeface="Arial"/>
              </a:rPr>
              <a:t>Node.js 24 + React + AG Grid. Restart recovery requires the database to survive.</a:t>
            </a:r>
          </a:p>
        </p:txBody>
      </p:sp>
    </p:spTree>
    <p:extLst>
      <p:ext uri="{BB962C8B-B14F-4D97-AF65-F5344CB8AC3E}">
        <p14:creationId xmlns:p14="http://schemas.microsoft.com/office/powerpoint/2010/main" val="2089728073"/>
      </p:ext>
    </p:extLst>
  </p:cSld>
</p:sld>
</file>

<file path=ppt/slides/slide5.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980B694-B85D-42E5-8918-5F713C207796}"/>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defRPr sz="3600" b="1">
                <a:solidFill>
                  <a:srgbClr val="EFF5F1"/>
                </a:solidFill>
                <a:latin typeface="Arial"/>
                <a:ea typeface="Arial"/>
                <a:cs typeface="Arial"/>
              </a:defRPr>
            </a:lvl1pPr>
            <a:lvl2pPr>
              <a:defRPr sz="3600" b="1">
                <a:solidFill>
                  <a:srgbClr val="EFF5F1"/>
                </a:solidFill>
                <a:latin typeface="Arial"/>
                <a:ea typeface="Arial"/>
                <a:cs typeface="Arial"/>
              </a:defRPr>
            </a:lvl2pPr>
            <a:lvl3pPr>
              <a:defRPr sz="3600" b="1">
                <a:solidFill>
                  <a:srgbClr val="EFF5F1"/>
                </a:solidFill>
                <a:latin typeface="Arial"/>
                <a:ea typeface="Arial"/>
                <a:cs typeface="Arial"/>
              </a:defRPr>
            </a:lvl3pPr>
            <a:lvl4pPr>
              <a:defRPr sz="3600" b="1">
                <a:solidFill>
                  <a:srgbClr val="EFF5F1"/>
                </a:solidFill>
                <a:latin typeface="Arial"/>
                <a:ea typeface="Arial"/>
                <a:cs typeface="Arial"/>
              </a:defRPr>
            </a:lvl4pPr>
            <a:lvl5pPr>
              <a:defRPr sz="3600" b="1">
                <a:solidFill>
                  <a:srgbClr val="EFF5F1"/>
                </a:solidFill>
                <a:latin typeface="Arial"/>
                <a:ea typeface="Arial"/>
                <a:cs typeface="Arial"/>
              </a:defRPr>
            </a:lvl5pPr>
            <a:lvl6pPr>
              <a:defRPr sz="3600" b="1">
                <a:solidFill>
                  <a:srgbClr val="EFF5F1"/>
                </a:solidFill>
                <a:latin typeface="Arial"/>
                <a:ea typeface="Arial"/>
                <a:cs typeface="Arial"/>
              </a:defRPr>
            </a:lvl6pPr>
            <a:lvl7pPr>
              <a:defRPr sz="3600" b="1">
                <a:solidFill>
                  <a:srgbClr val="EFF5F1"/>
                </a:solidFill>
                <a:latin typeface="Arial"/>
                <a:ea typeface="Arial"/>
                <a:cs typeface="Arial"/>
              </a:defRPr>
            </a:lvl7pPr>
            <a:lvl8pPr>
              <a:defRPr sz="3600" b="1">
                <a:solidFill>
                  <a:srgbClr val="EFF5F1"/>
                </a:solidFill>
                <a:latin typeface="Arial"/>
                <a:ea typeface="Arial"/>
                <a:cs typeface="Arial"/>
              </a:defRPr>
            </a:lvl8pPr>
            <a:lvl9pPr>
              <a:defRPr sz="3600" b="1">
                <a:solidFill>
                  <a:srgbClr val="EFF5F1"/>
                </a:solidFill>
                <a:latin typeface="Arial"/>
                <a:ea typeface="Arial"/>
                <a:cs typeface="Arial"/>
              </a:defRPr>
            </a:lvl9pPr>
          </a:lstStyle>
          <a:p xmlns:a="http://schemas.openxmlformats.org/drawingml/2006/main">
            <a:pPr>
              <a:defRPr sz="3600" b="1">
                <a:solidFill>
                  <a:srgbClr val="EFF5F1"/>
                </a:solidFill>
                <a:latin typeface="Arial"/>
                <a:ea typeface="Arial"/>
                <a:cs typeface="Arial"/>
              </a:defRPr>
            </a:pPr>
            <a:r>
              <a:rPr sz="3600" b="1">
                <a:solidFill>
                  <a:srgbClr val="EFF5F1"/>
                </a:solidFill>
                <a:latin typeface="Arial"/>
                <a:ea typeface="Arial"/>
                <a:cs typeface="Arial"/>
              </a:rPr>
              <a:t>Sponsor integrations with evidence</a:t>
            </a:r>
          </a:p>
        </p:txBody>
      </p:sp>
      <p:sp>
        <p:nvSpPr>
          <p:cNvPr id="2" name="page">
            <a:extLst xmlns:a="http://schemas.openxmlformats.org/drawingml/2006/main">
              <a:ext uri="{FF2B5EF4-FFF2-40B4-BE49-F238E27FC236}">
                <a16:creationId xmlns:a16="http://schemas.microsoft.com/office/drawing/2014/main" id="{9F2C20C1-3CCB-43D9-8A94-EC37056E16EA}"/>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defRPr sz="1200" b="0">
                <a:solidFill>
                  <a:srgbClr val="A6BAC1"/>
                </a:solidFill>
                <a:latin typeface="Arial"/>
                <a:ea typeface="Arial"/>
                <a:cs typeface="Arial"/>
              </a:defRPr>
            </a:lvl1pPr>
            <a:lvl2pPr>
              <a:defRPr sz="1200" b="0">
                <a:solidFill>
                  <a:srgbClr val="A6BAC1"/>
                </a:solidFill>
                <a:latin typeface="Arial"/>
                <a:ea typeface="Arial"/>
                <a:cs typeface="Arial"/>
              </a:defRPr>
            </a:lvl2pPr>
            <a:lvl3pPr>
              <a:defRPr sz="1200" b="0">
                <a:solidFill>
                  <a:srgbClr val="A6BAC1"/>
                </a:solidFill>
                <a:latin typeface="Arial"/>
                <a:ea typeface="Arial"/>
                <a:cs typeface="Arial"/>
              </a:defRPr>
            </a:lvl3pPr>
            <a:lvl4pPr>
              <a:defRPr sz="1200" b="0">
                <a:solidFill>
                  <a:srgbClr val="A6BAC1"/>
                </a:solidFill>
                <a:latin typeface="Arial"/>
                <a:ea typeface="Arial"/>
                <a:cs typeface="Arial"/>
              </a:defRPr>
            </a:lvl4pPr>
            <a:lvl5pPr>
              <a:defRPr sz="1200" b="0">
                <a:solidFill>
                  <a:srgbClr val="A6BAC1"/>
                </a:solidFill>
                <a:latin typeface="Arial"/>
                <a:ea typeface="Arial"/>
                <a:cs typeface="Arial"/>
              </a:defRPr>
            </a:lvl5pPr>
            <a:lvl6pPr>
              <a:defRPr sz="1200" b="0">
                <a:solidFill>
                  <a:srgbClr val="A6BAC1"/>
                </a:solidFill>
                <a:latin typeface="Arial"/>
                <a:ea typeface="Arial"/>
                <a:cs typeface="Arial"/>
              </a:defRPr>
            </a:lvl6pPr>
            <a:lvl7pPr>
              <a:defRPr sz="1200" b="0">
                <a:solidFill>
                  <a:srgbClr val="A6BAC1"/>
                </a:solidFill>
                <a:latin typeface="Arial"/>
                <a:ea typeface="Arial"/>
                <a:cs typeface="Arial"/>
              </a:defRPr>
            </a:lvl7pPr>
            <a:lvl8pPr>
              <a:defRPr sz="1200" b="0">
                <a:solidFill>
                  <a:srgbClr val="A6BAC1"/>
                </a:solidFill>
                <a:latin typeface="Arial"/>
                <a:ea typeface="Arial"/>
                <a:cs typeface="Arial"/>
              </a:defRPr>
            </a:lvl8pPr>
            <a:lvl9pPr>
              <a:defRPr sz="1200" b="0">
                <a:solidFill>
                  <a:srgbClr val="A6BAC1"/>
                </a:solidFill>
                <a:latin typeface="Arial"/>
                <a:ea typeface="Arial"/>
                <a:cs typeface="Arial"/>
              </a:defRPr>
            </a:lvl9pPr>
          </a:lstStyle>
          <a:p xmlns:a="http://schemas.openxmlformats.org/drawingml/2006/main">
            <a:pPr>
              <a:defRPr sz="1200" b="0">
                <a:solidFill>
                  <a:srgbClr val="A6BAC1"/>
                </a:solidFill>
                <a:latin typeface="Arial"/>
                <a:ea typeface="Arial"/>
                <a:cs typeface="Arial"/>
              </a:defRPr>
            </a:pPr>
            <a:r>
              <a:rPr sz="1200" b="0">
                <a:solidFill>
                  <a:srgbClr val="A6BAC1"/>
                </a:solidFill>
                <a:latin typeface="Arial"/>
                <a:ea typeface="Arial"/>
                <a:cs typeface="Arial"/>
              </a:rPr>
              <a:t>05 / 10</a:t>
            </a:r>
          </a:p>
        </p:txBody>
      </p:sp>
      <p:graphicFrame>
        <p:nvGraphicFramePr>
          <p:cNvPr id="3" name="">
            <a:extLst xmlns:a="http://schemas.openxmlformats.org/drawingml/2006/main">
              <a:ext uri="{FF2B5EF4-FFF2-40B4-BE49-F238E27FC236}">
                <a16:creationId xmlns:a16="http://schemas.microsoft.com/office/drawing/2014/main" id="{026A1F91-3A53-4283-AE4B-B40CD91DC82F}"/>
              </a:ext>
            </a:extLst>
          </p:cNvPr>
          <p:cNvGraphicFramePr/>
          <p:nvPr/>
        </p:nvGraphicFramePr>
        <p:xfrm>
          <a:off xmlns:a="http://schemas.openxmlformats.org/drawingml/2006/main" x="609600" y="1704975"/>
          <a:ext xmlns:a="http://schemas.openxmlformats.org/drawingml/2006/main" cx="10972800" cy="3943350"/>
        </p:xfrm>
        <a:graphic xmlns:a="http://schemas.openxmlformats.org/drawingml/2006/main">
          <a:graphicData uri="http://schemas.openxmlformats.org/drawingml/2006/table">
            <a:tbl>
              <a:tblPr firstRow="1" bandRow="0"/>
              <a:tblGrid>
                <a:gridCol w="2914650"/>
                <a:gridCol w="4629150"/>
                <a:gridCol w="3429000"/>
              </a:tblGrid>
              <a:tr h="563336">
                <a:tc>
                  <a:txBody>
                    <a:bodyPr/>
                    <a:lstStyle/>
                    <a:p>
                      <a:r>
                        <a:rPr sz="1875" b="1">
                          <a:solidFill>
                            <a:srgbClr val="A4E3C3"/>
                          </a:solidFill>
                          <a:latin typeface="Arial"/>
                          <a:ea typeface="Arial"/>
                          <a:cs typeface="Arial"/>
                        </a:rPr>
                        <a:t>Technology</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75" b="1">
                          <a:solidFill>
                            <a:srgbClr val="A4E3C3"/>
                          </a:solidFill>
                          <a:latin typeface="Arial"/>
                          <a:ea typeface="Arial"/>
                          <a:cs typeface="Arial"/>
                        </a:rPr>
                        <a:t>Concrete use</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75" b="1">
                          <a:solidFill>
                            <a:srgbClr val="A4E3C3"/>
                          </a:solidFill>
                          <a:latin typeface="Arial"/>
                          <a:ea typeface="Arial"/>
                          <a:cs typeface="Arial"/>
                        </a:rPr>
                        <a:t>Evidence status</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63336">
                <a:tc>
                  <a:txBody>
                    <a:bodyPr/>
                    <a:lstStyle/>
                    <a:p>
                      <a:r>
                        <a:rPr sz="1875">
                          <a:solidFill>
                            <a:srgbClr val="EFF5F1"/>
                          </a:solidFill>
                          <a:latin typeface="Arial"/>
                          <a:ea typeface="Arial"/>
                          <a:cs typeface="Arial"/>
                        </a:rPr>
                        <a:t>AG Grid Community</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Supplier allocations and states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Running in the app</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Render</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Host the Node application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Public service verified</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APIMatic Context Plugin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PayPal context during development</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Installed and consulted</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Kernel</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Configured supplier browser session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External run pending</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Astropods</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Independent supplier agents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Proposed extension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Elastic / Channel3</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Search and expanded catalog</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Proposed extensions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4" name="disclosure">
            <a:extLst xmlns:a="http://schemas.openxmlformats.org/drawingml/2006/main">
              <a:ext uri="{FF2B5EF4-FFF2-40B4-BE49-F238E27FC236}">
                <a16:creationId xmlns:a16="http://schemas.microsoft.com/office/drawing/2014/main" id="{8491CAD2-3A88-4E1B-A310-73DBC6B01502}"/>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defRPr sz="1425" b="0">
                <a:solidFill>
                  <a:srgbClr val="A6BAC1"/>
                </a:solidFill>
                <a:latin typeface="Arial"/>
                <a:ea typeface="Arial"/>
                <a:cs typeface="Arial"/>
              </a:defRPr>
            </a:lvl1pPr>
            <a:lvl2pPr>
              <a:defRPr sz="1425" b="0">
                <a:solidFill>
                  <a:srgbClr val="A6BAC1"/>
                </a:solidFill>
                <a:latin typeface="Arial"/>
                <a:ea typeface="Arial"/>
                <a:cs typeface="Arial"/>
              </a:defRPr>
            </a:lvl2pPr>
            <a:lvl3pPr>
              <a:defRPr sz="1425" b="0">
                <a:solidFill>
                  <a:srgbClr val="A6BAC1"/>
                </a:solidFill>
                <a:latin typeface="Arial"/>
                <a:ea typeface="Arial"/>
                <a:cs typeface="Arial"/>
              </a:defRPr>
            </a:lvl3pPr>
            <a:lvl4pPr>
              <a:defRPr sz="1425" b="0">
                <a:solidFill>
                  <a:srgbClr val="A6BAC1"/>
                </a:solidFill>
                <a:latin typeface="Arial"/>
                <a:ea typeface="Arial"/>
                <a:cs typeface="Arial"/>
              </a:defRPr>
            </a:lvl4pPr>
            <a:lvl5pPr>
              <a:defRPr sz="1425" b="0">
                <a:solidFill>
                  <a:srgbClr val="A6BAC1"/>
                </a:solidFill>
                <a:latin typeface="Arial"/>
                <a:ea typeface="Arial"/>
                <a:cs typeface="Arial"/>
              </a:defRPr>
            </a:lvl5pPr>
            <a:lvl6pPr>
              <a:defRPr sz="1425" b="0">
                <a:solidFill>
                  <a:srgbClr val="A6BAC1"/>
                </a:solidFill>
                <a:latin typeface="Arial"/>
                <a:ea typeface="Arial"/>
                <a:cs typeface="Arial"/>
              </a:defRPr>
            </a:lvl6pPr>
            <a:lvl7pPr>
              <a:defRPr sz="1425" b="0">
                <a:solidFill>
                  <a:srgbClr val="A6BAC1"/>
                </a:solidFill>
                <a:latin typeface="Arial"/>
                <a:ea typeface="Arial"/>
                <a:cs typeface="Arial"/>
              </a:defRPr>
            </a:lvl7pPr>
            <a:lvl8pPr>
              <a:defRPr sz="1425" b="0">
                <a:solidFill>
                  <a:srgbClr val="A6BAC1"/>
                </a:solidFill>
                <a:latin typeface="Arial"/>
                <a:ea typeface="Arial"/>
                <a:cs typeface="Arial"/>
              </a:defRPr>
            </a:lvl8pPr>
            <a:lvl9pPr>
              <a:defRPr sz="1425" b="0">
                <a:solidFill>
                  <a:srgbClr val="A6BAC1"/>
                </a:solidFill>
                <a:latin typeface="Arial"/>
                <a:ea typeface="Arial"/>
                <a:cs typeface="Arial"/>
              </a:defRPr>
            </a:lvl9pPr>
          </a:lstStyle>
          <a:p xmlns:a="http://schemas.openxmlformats.org/drawingml/2006/main">
            <a:pPr>
              <a:defRPr sz="1425" b="0">
                <a:solidFill>
                  <a:srgbClr val="A6BAC1"/>
                </a:solidFill>
                <a:latin typeface="Arial"/>
                <a:ea typeface="Arial"/>
                <a:cs typeface="Arial"/>
              </a:defRPr>
            </a:pPr>
            <a:r>
              <a:rPr sz="1425" b="0">
                <a:solidFill>
                  <a:srgbClr val="A6BAC1"/>
                </a:solidFill>
                <a:latin typeface="Arial"/>
                <a:ea typeface="Arial"/>
                <a:cs typeface="Arial"/>
              </a:rPr>
              <a:t>Render Web Service. AG Grid Community. APIMatic supports development review.</a:t>
            </a:r>
          </a:p>
        </p:txBody>
      </p:sp>
    </p:spTree>
    <p:extLst>
      <p:ext uri="{BB962C8B-B14F-4D97-AF65-F5344CB8AC3E}">
        <p14:creationId xmlns:p14="http://schemas.microsoft.com/office/powerpoint/2010/main" val="415043612"/>
      </p:ext>
    </p:extLst>
  </p:cSld>
</p:sld>
</file>

<file path=ppt/slides/slide6.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16EE444-2723-4DD7-A743-22B274B55E45}"/>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defRPr sz="3600" b="1">
                <a:solidFill>
                  <a:srgbClr val="EFF5F1"/>
                </a:solidFill>
                <a:latin typeface="Arial"/>
                <a:ea typeface="Arial"/>
                <a:cs typeface="Arial"/>
              </a:defRPr>
            </a:lvl1pPr>
            <a:lvl2pPr>
              <a:defRPr sz="3600" b="1">
                <a:solidFill>
                  <a:srgbClr val="EFF5F1"/>
                </a:solidFill>
                <a:latin typeface="Arial"/>
                <a:ea typeface="Arial"/>
                <a:cs typeface="Arial"/>
              </a:defRPr>
            </a:lvl2pPr>
            <a:lvl3pPr>
              <a:defRPr sz="3600" b="1">
                <a:solidFill>
                  <a:srgbClr val="EFF5F1"/>
                </a:solidFill>
                <a:latin typeface="Arial"/>
                <a:ea typeface="Arial"/>
                <a:cs typeface="Arial"/>
              </a:defRPr>
            </a:lvl3pPr>
            <a:lvl4pPr>
              <a:defRPr sz="3600" b="1">
                <a:solidFill>
                  <a:srgbClr val="EFF5F1"/>
                </a:solidFill>
                <a:latin typeface="Arial"/>
                <a:ea typeface="Arial"/>
                <a:cs typeface="Arial"/>
              </a:defRPr>
            </a:lvl4pPr>
            <a:lvl5pPr>
              <a:defRPr sz="3600" b="1">
                <a:solidFill>
                  <a:srgbClr val="EFF5F1"/>
                </a:solidFill>
                <a:latin typeface="Arial"/>
                <a:ea typeface="Arial"/>
                <a:cs typeface="Arial"/>
              </a:defRPr>
            </a:lvl5pPr>
            <a:lvl6pPr>
              <a:defRPr sz="3600" b="1">
                <a:solidFill>
                  <a:srgbClr val="EFF5F1"/>
                </a:solidFill>
                <a:latin typeface="Arial"/>
                <a:ea typeface="Arial"/>
                <a:cs typeface="Arial"/>
              </a:defRPr>
            </a:lvl6pPr>
            <a:lvl7pPr>
              <a:defRPr sz="3600" b="1">
                <a:solidFill>
                  <a:srgbClr val="EFF5F1"/>
                </a:solidFill>
                <a:latin typeface="Arial"/>
                <a:ea typeface="Arial"/>
                <a:cs typeface="Arial"/>
              </a:defRPr>
            </a:lvl7pPr>
            <a:lvl8pPr>
              <a:defRPr sz="3600" b="1">
                <a:solidFill>
                  <a:srgbClr val="EFF5F1"/>
                </a:solidFill>
                <a:latin typeface="Arial"/>
                <a:ea typeface="Arial"/>
                <a:cs typeface="Arial"/>
              </a:defRPr>
            </a:lvl8pPr>
            <a:lvl9pPr>
              <a:defRPr sz="3600" b="1">
                <a:solidFill>
                  <a:srgbClr val="EFF5F1"/>
                </a:solidFill>
                <a:latin typeface="Arial"/>
                <a:ea typeface="Arial"/>
                <a:cs typeface="Arial"/>
              </a:defRPr>
            </a:lvl9pPr>
          </a:lstStyle>
          <a:p xmlns:a="http://schemas.openxmlformats.org/drawingml/2006/main">
            <a:pPr>
              <a:defRPr sz="3600" b="1">
                <a:solidFill>
                  <a:srgbClr val="EFF5F1"/>
                </a:solidFill>
                <a:latin typeface="Arial"/>
                <a:ea typeface="Arial"/>
                <a:cs typeface="Arial"/>
              </a:defRPr>
            </a:pPr>
            <a:r>
              <a:rPr sz="3600" b="1">
                <a:solidFill>
                  <a:srgbClr val="EFF5F1"/>
                </a:solidFill>
                <a:latin typeface="Arial"/>
                <a:ea typeface="Arial"/>
                <a:cs typeface="Arial"/>
              </a:rPr>
              <a:t>The demonstration in 2:50</a:t>
            </a:r>
          </a:p>
        </p:txBody>
      </p:sp>
      <p:sp>
        <p:nvSpPr>
          <p:cNvPr id="2" name="page">
            <a:extLst xmlns:a="http://schemas.openxmlformats.org/drawingml/2006/main">
              <a:ext uri="{FF2B5EF4-FFF2-40B4-BE49-F238E27FC236}">
                <a16:creationId xmlns:a16="http://schemas.microsoft.com/office/drawing/2014/main" id="{FC7C579D-11E5-4BF4-BA61-7A37AF2405D4}"/>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defRPr sz="1200" b="0">
                <a:solidFill>
                  <a:srgbClr val="A6BAC1"/>
                </a:solidFill>
                <a:latin typeface="Arial"/>
                <a:ea typeface="Arial"/>
                <a:cs typeface="Arial"/>
              </a:defRPr>
            </a:lvl1pPr>
            <a:lvl2pPr>
              <a:defRPr sz="1200" b="0">
                <a:solidFill>
                  <a:srgbClr val="A6BAC1"/>
                </a:solidFill>
                <a:latin typeface="Arial"/>
                <a:ea typeface="Arial"/>
                <a:cs typeface="Arial"/>
              </a:defRPr>
            </a:lvl2pPr>
            <a:lvl3pPr>
              <a:defRPr sz="1200" b="0">
                <a:solidFill>
                  <a:srgbClr val="A6BAC1"/>
                </a:solidFill>
                <a:latin typeface="Arial"/>
                <a:ea typeface="Arial"/>
                <a:cs typeface="Arial"/>
              </a:defRPr>
            </a:lvl3pPr>
            <a:lvl4pPr>
              <a:defRPr sz="1200" b="0">
                <a:solidFill>
                  <a:srgbClr val="A6BAC1"/>
                </a:solidFill>
                <a:latin typeface="Arial"/>
                <a:ea typeface="Arial"/>
                <a:cs typeface="Arial"/>
              </a:defRPr>
            </a:lvl4pPr>
            <a:lvl5pPr>
              <a:defRPr sz="1200" b="0">
                <a:solidFill>
                  <a:srgbClr val="A6BAC1"/>
                </a:solidFill>
                <a:latin typeface="Arial"/>
                <a:ea typeface="Arial"/>
                <a:cs typeface="Arial"/>
              </a:defRPr>
            </a:lvl5pPr>
            <a:lvl6pPr>
              <a:defRPr sz="1200" b="0">
                <a:solidFill>
                  <a:srgbClr val="A6BAC1"/>
                </a:solidFill>
                <a:latin typeface="Arial"/>
                <a:ea typeface="Arial"/>
                <a:cs typeface="Arial"/>
              </a:defRPr>
            </a:lvl6pPr>
            <a:lvl7pPr>
              <a:defRPr sz="1200" b="0">
                <a:solidFill>
                  <a:srgbClr val="A6BAC1"/>
                </a:solidFill>
                <a:latin typeface="Arial"/>
                <a:ea typeface="Arial"/>
                <a:cs typeface="Arial"/>
              </a:defRPr>
            </a:lvl7pPr>
            <a:lvl8pPr>
              <a:defRPr sz="1200" b="0">
                <a:solidFill>
                  <a:srgbClr val="A6BAC1"/>
                </a:solidFill>
                <a:latin typeface="Arial"/>
                <a:ea typeface="Arial"/>
                <a:cs typeface="Arial"/>
              </a:defRPr>
            </a:lvl8pPr>
            <a:lvl9pPr>
              <a:defRPr sz="1200" b="0">
                <a:solidFill>
                  <a:srgbClr val="A6BAC1"/>
                </a:solidFill>
                <a:latin typeface="Arial"/>
                <a:ea typeface="Arial"/>
                <a:cs typeface="Arial"/>
              </a:defRPr>
            </a:lvl9pPr>
          </a:lstStyle>
          <a:p xmlns:a="http://schemas.openxmlformats.org/drawingml/2006/main">
            <a:pPr>
              <a:defRPr sz="1200" b="0">
                <a:solidFill>
                  <a:srgbClr val="A6BAC1"/>
                </a:solidFill>
                <a:latin typeface="Arial"/>
                <a:ea typeface="Arial"/>
                <a:cs typeface="Arial"/>
              </a:defRPr>
            </a:pPr>
            <a:r>
              <a:rPr sz="1200" b="0">
                <a:solidFill>
                  <a:srgbClr val="A6BAC1"/>
                </a:solidFill>
                <a:latin typeface="Arial"/>
                <a:ea typeface="Arial"/>
                <a:cs typeface="Arial"/>
              </a:rPr>
              <a:t>06 / 10</a:t>
            </a:r>
          </a:p>
        </p:txBody>
      </p:sp>
      <p:graphicFrame>
        <p:nvGraphicFramePr>
          <p:cNvPr id="3" name="">
            <a:extLst xmlns:a="http://schemas.openxmlformats.org/drawingml/2006/main">
              <a:ext uri="{FF2B5EF4-FFF2-40B4-BE49-F238E27FC236}">
                <a16:creationId xmlns:a16="http://schemas.microsoft.com/office/drawing/2014/main" id="{B36A9A49-F74C-4247-98ED-77627E144570}"/>
              </a:ext>
            </a:extLst>
          </p:cNvPr>
          <p:cNvGraphicFramePr/>
          <p:nvPr/>
        </p:nvGraphicFramePr>
        <p:xfrm>
          <a:off xmlns:a="http://schemas.openxmlformats.org/drawingml/2006/main" x="609600" y="1562100"/>
          <a:ext xmlns:a="http://schemas.openxmlformats.org/drawingml/2006/main" cx="10972800" cy="3943350"/>
        </p:xfrm>
        <a:graphic xmlns:a="http://schemas.openxmlformats.org/drawingml/2006/main">
          <a:graphicData uri="http://schemas.openxmlformats.org/drawingml/2006/table">
            <a:tbl>
              <a:tblPr firstRow="1" bandRow="0"/>
              <a:tblGrid>
                <a:gridCol w="1647825"/>
                <a:gridCol w="4429125"/>
                <a:gridCol w="4895850"/>
              </a:tblGrid>
              <a:tr h="563336">
                <a:tc>
                  <a:txBody>
                    <a:bodyPr/>
                    <a:lstStyle/>
                    <a:p>
                      <a:r>
                        <a:rPr sz="1800" b="1">
                          <a:solidFill>
                            <a:srgbClr val="A4E3C3"/>
                          </a:solidFill>
                          <a:latin typeface="Arial"/>
                          <a:ea typeface="Arial"/>
                          <a:cs typeface="Arial"/>
                        </a:rPr>
                        <a:t>Time</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00" b="1">
                          <a:solidFill>
                            <a:srgbClr val="A4E3C3"/>
                          </a:solidFill>
                          <a:latin typeface="Arial"/>
                          <a:ea typeface="Arial"/>
                          <a:cs typeface="Arial"/>
                        </a:rPr>
                        <a:t>Visible action</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00" b="1">
                          <a:solidFill>
                            <a:srgbClr val="A4E3C3"/>
                          </a:solidFill>
                          <a:latin typeface="Arial"/>
                          <a:ea typeface="Arial"/>
                          <a:cs typeface="Arial"/>
                        </a:rPr>
                        <a:t>What it proves</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63336">
                <a:tc>
                  <a:txBody>
                    <a:bodyPr/>
                    <a:lstStyle/>
                    <a:p>
                      <a:r>
                        <a:rPr sz="1800">
                          <a:solidFill>
                            <a:srgbClr val="EFF5F1"/>
                          </a:solidFill>
                          <a:latin typeface="Arial"/>
                          <a:ea typeface="Arial"/>
                          <a:cs typeface="Arial"/>
                        </a:rPr>
                        <a:t>0:00–0:30</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Public mandate and negotiation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€1,500 ceiling. €1,480 bundle.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0:30–1:15</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Consent and clear-fixture Autopilot</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Server execution and supplier states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1:15–1:40</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Separate public cloudy agreement</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Failed conditions prevent capture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1:40–2:18</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Recorded Gemini + Sandbox evidence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€1,650 capture. Three Payouts succeed.</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2:18–2:38</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Receipt and read-only forecast</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Inspectable decisions and oracle boundary</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2:38–2:50</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Next milestone and product vision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Real operators and local observations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4" name="disclosure">
            <a:extLst xmlns:a="http://schemas.openxmlformats.org/drawingml/2006/main">
              <a:ext uri="{FF2B5EF4-FFF2-40B4-BE49-F238E27FC236}">
                <a16:creationId xmlns:a16="http://schemas.microsoft.com/office/drawing/2014/main" id="{40F05DF6-8234-4397-AE72-8D0D29BF89A0}"/>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DFBF7E"/>
                </a:solidFill>
                <a:latin typeface="Arial"/>
                <a:ea typeface="Arial"/>
                <a:cs typeface="Arial"/>
              </a:defRPr>
            </a:defPPr>
            <a:lvl1pPr>
              <a:defRPr sz="1425" b="0">
                <a:solidFill>
                  <a:srgbClr val="DFBF7E"/>
                </a:solidFill>
                <a:latin typeface="Arial"/>
                <a:ea typeface="Arial"/>
                <a:cs typeface="Arial"/>
              </a:defRPr>
            </a:lvl1pPr>
            <a:lvl2pPr>
              <a:defRPr sz="1425" b="0">
                <a:solidFill>
                  <a:srgbClr val="DFBF7E"/>
                </a:solidFill>
                <a:latin typeface="Arial"/>
                <a:ea typeface="Arial"/>
                <a:cs typeface="Arial"/>
              </a:defRPr>
            </a:lvl2pPr>
            <a:lvl3pPr>
              <a:defRPr sz="1425" b="0">
                <a:solidFill>
                  <a:srgbClr val="DFBF7E"/>
                </a:solidFill>
                <a:latin typeface="Arial"/>
                <a:ea typeface="Arial"/>
                <a:cs typeface="Arial"/>
              </a:defRPr>
            </a:lvl3pPr>
            <a:lvl4pPr>
              <a:defRPr sz="1425" b="0">
                <a:solidFill>
                  <a:srgbClr val="DFBF7E"/>
                </a:solidFill>
                <a:latin typeface="Arial"/>
                <a:ea typeface="Arial"/>
                <a:cs typeface="Arial"/>
              </a:defRPr>
            </a:lvl4pPr>
            <a:lvl5pPr>
              <a:defRPr sz="1425" b="0">
                <a:solidFill>
                  <a:srgbClr val="DFBF7E"/>
                </a:solidFill>
                <a:latin typeface="Arial"/>
                <a:ea typeface="Arial"/>
                <a:cs typeface="Arial"/>
              </a:defRPr>
            </a:lvl5pPr>
            <a:lvl6pPr>
              <a:defRPr sz="1425" b="0">
                <a:solidFill>
                  <a:srgbClr val="DFBF7E"/>
                </a:solidFill>
                <a:latin typeface="Arial"/>
                <a:ea typeface="Arial"/>
                <a:cs typeface="Arial"/>
              </a:defRPr>
            </a:lvl6pPr>
            <a:lvl7pPr>
              <a:defRPr sz="1425" b="0">
                <a:solidFill>
                  <a:srgbClr val="DFBF7E"/>
                </a:solidFill>
                <a:latin typeface="Arial"/>
                <a:ea typeface="Arial"/>
                <a:cs typeface="Arial"/>
              </a:defRPr>
            </a:lvl7pPr>
            <a:lvl8pPr>
              <a:defRPr sz="1425" b="0">
                <a:solidFill>
                  <a:srgbClr val="DFBF7E"/>
                </a:solidFill>
                <a:latin typeface="Arial"/>
                <a:ea typeface="Arial"/>
                <a:cs typeface="Arial"/>
              </a:defRPr>
            </a:lvl8pPr>
            <a:lvl9pPr>
              <a:defRPr sz="1425" b="0">
                <a:solidFill>
                  <a:srgbClr val="DFBF7E"/>
                </a:solidFill>
                <a:latin typeface="Arial"/>
                <a:ea typeface="Arial"/>
                <a:cs typeface="Arial"/>
              </a:defRPr>
            </a:lvl9pPr>
          </a:lstStyle>
          <a:p xmlns:a="http://schemas.openxmlformats.org/drawingml/2006/main">
            <a:pPr>
              <a:defRPr sz="1425" b="0">
                <a:solidFill>
                  <a:srgbClr val="DFBF7E"/>
                </a:solidFill>
                <a:latin typeface="Arial"/>
                <a:ea typeface="Arial"/>
                <a:cs typeface="Arial"/>
              </a:defRPr>
            </a:pPr>
            <a:r>
              <a:rPr sz="1425" b="0">
                <a:solidFill>
                  <a:srgbClr val="DFBF7E"/>
                </a:solidFill>
                <a:latin typeface="Arial"/>
                <a:ea typeface="Arial"/>
                <a:cs typeface="Arial"/>
              </a:rPr>
              <a:t>Public payments are simulated. Historical private evidence uses Sandbox test funds.</a:t>
            </a:r>
          </a:p>
        </p:txBody>
      </p:sp>
    </p:spTree>
    <p:extLst>
      <p:ext uri="{BB962C8B-B14F-4D97-AF65-F5344CB8AC3E}">
        <p14:creationId xmlns:p14="http://schemas.microsoft.com/office/powerpoint/2010/main" val="773299603"/>
      </p:ext>
    </p:extLst>
  </p:cSld>
</p:sld>
</file>

<file path=ppt/slides/slide7.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50DFD47-2FA2-4543-B313-63C101B8F131}"/>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defRPr sz="3600" b="1">
                <a:solidFill>
                  <a:srgbClr val="EFF5F1"/>
                </a:solidFill>
                <a:latin typeface="Arial"/>
                <a:ea typeface="Arial"/>
                <a:cs typeface="Arial"/>
              </a:defRPr>
            </a:lvl1pPr>
            <a:lvl2pPr>
              <a:defRPr sz="3600" b="1">
                <a:solidFill>
                  <a:srgbClr val="EFF5F1"/>
                </a:solidFill>
                <a:latin typeface="Arial"/>
                <a:ea typeface="Arial"/>
                <a:cs typeface="Arial"/>
              </a:defRPr>
            </a:lvl2pPr>
            <a:lvl3pPr>
              <a:defRPr sz="3600" b="1">
                <a:solidFill>
                  <a:srgbClr val="EFF5F1"/>
                </a:solidFill>
                <a:latin typeface="Arial"/>
                <a:ea typeface="Arial"/>
                <a:cs typeface="Arial"/>
              </a:defRPr>
            </a:lvl3pPr>
            <a:lvl4pPr>
              <a:defRPr sz="3600" b="1">
                <a:solidFill>
                  <a:srgbClr val="EFF5F1"/>
                </a:solidFill>
                <a:latin typeface="Arial"/>
                <a:ea typeface="Arial"/>
                <a:cs typeface="Arial"/>
              </a:defRPr>
            </a:lvl4pPr>
            <a:lvl5pPr>
              <a:defRPr sz="3600" b="1">
                <a:solidFill>
                  <a:srgbClr val="EFF5F1"/>
                </a:solidFill>
                <a:latin typeface="Arial"/>
                <a:ea typeface="Arial"/>
                <a:cs typeface="Arial"/>
              </a:defRPr>
            </a:lvl5pPr>
            <a:lvl6pPr>
              <a:defRPr sz="3600" b="1">
                <a:solidFill>
                  <a:srgbClr val="EFF5F1"/>
                </a:solidFill>
                <a:latin typeface="Arial"/>
                <a:ea typeface="Arial"/>
                <a:cs typeface="Arial"/>
              </a:defRPr>
            </a:lvl6pPr>
            <a:lvl7pPr>
              <a:defRPr sz="3600" b="1">
                <a:solidFill>
                  <a:srgbClr val="EFF5F1"/>
                </a:solidFill>
                <a:latin typeface="Arial"/>
                <a:ea typeface="Arial"/>
                <a:cs typeface="Arial"/>
              </a:defRPr>
            </a:lvl7pPr>
            <a:lvl8pPr>
              <a:defRPr sz="3600" b="1">
                <a:solidFill>
                  <a:srgbClr val="EFF5F1"/>
                </a:solidFill>
                <a:latin typeface="Arial"/>
                <a:ea typeface="Arial"/>
                <a:cs typeface="Arial"/>
              </a:defRPr>
            </a:lvl8pPr>
            <a:lvl9pPr>
              <a:defRPr sz="3600" b="1">
                <a:solidFill>
                  <a:srgbClr val="EFF5F1"/>
                </a:solidFill>
                <a:latin typeface="Arial"/>
                <a:ea typeface="Arial"/>
                <a:cs typeface="Arial"/>
              </a:defRPr>
            </a:lvl9pPr>
          </a:lstStyle>
          <a:p xmlns:a="http://schemas.openxmlformats.org/drawingml/2006/main">
            <a:pPr>
              <a:defRPr sz="3600" b="1">
                <a:solidFill>
                  <a:srgbClr val="EFF5F1"/>
                </a:solidFill>
                <a:latin typeface="Arial"/>
                <a:ea typeface="Arial"/>
                <a:cs typeface="Arial"/>
              </a:defRPr>
            </a:pPr>
            <a:r>
              <a:rPr sz="3600" b="1">
                <a:solidFill>
                  <a:srgbClr val="EFF5F1"/>
                </a:solidFill>
                <a:latin typeface="Arial"/>
                <a:ea typeface="Arial"/>
                <a:cs typeface="Arial"/>
              </a:rPr>
              <a:t>The PayPal Edge</a:t>
            </a:r>
          </a:p>
        </p:txBody>
      </p:sp>
      <p:sp>
        <p:nvSpPr>
          <p:cNvPr id="2" name="page">
            <a:extLst xmlns:a="http://schemas.openxmlformats.org/drawingml/2006/main">
              <a:ext uri="{FF2B5EF4-FFF2-40B4-BE49-F238E27FC236}">
                <a16:creationId xmlns:a16="http://schemas.microsoft.com/office/drawing/2014/main" id="{0A666047-EE15-4B0A-960E-3AC40AA912E6}"/>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defRPr sz="1200" b="0">
                <a:solidFill>
                  <a:srgbClr val="A6BAC1"/>
                </a:solidFill>
                <a:latin typeface="Arial"/>
                <a:ea typeface="Arial"/>
                <a:cs typeface="Arial"/>
              </a:defRPr>
            </a:lvl1pPr>
            <a:lvl2pPr>
              <a:defRPr sz="1200" b="0">
                <a:solidFill>
                  <a:srgbClr val="A6BAC1"/>
                </a:solidFill>
                <a:latin typeface="Arial"/>
                <a:ea typeface="Arial"/>
                <a:cs typeface="Arial"/>
              </a:defRPr>
            </a:lvl2pPr>
            <a:lvl3pPr>
              <a:defRPr sz="1200" b="0">
                <a:solidFill>
                  <a:srgbClr val="A6BAC1"/>
                </a:solidFill>
                <a:latin typeface="Arial"/>
                <a:ea typeface="Arial"/>
                <a:cs typeface="Arial"/>
              </a:defRPr>
            </a:lvl3pPr>
            <a:lvl4pPr>
              <a:defRPr sz="1200" b="0">
                <a:solidFill>
                  <a:srgbClr val="A6BAC1"/>
                </a:solidFill>
                <a:latin typeface="Arial"/>
                <a:ea typeface="Arial"/>
                <a:cs typeface="Arial"/>
              </a:defRPr>
            </a:lvl4pPr>
            <a:lvl5pPr>
              <a:defRPr sz="1200" b="0">
                <a:solidFill>
                  <a:srgbClr val="A6BAC1"/>
                </a:solidFill>
                <a:latin typeface="Arial"/>
                <a:ea typeface="Arial"/>
                <a:cs typeface="Arial"/>
              </a:defRPr>
            </a:lvl5pPr>
            <a:lvl6pPr>
              <a:defRPr sz="1200" b="0">
                <a:solidFill>
                  <a:srgbClr val="A6BAC1"/>
                </a:solidFill>
                <a:latin typeface="Arial"/>
                <a:ea typeface="Arial"/>
                <a:cs typeface="Arial"/>
              </a:defRPr>
            </a:lvl6pPr>
            <a:lvl7pPr>
              <a:defRPr sz="1200" b="0">
                <a:solidFill>
                  <a:srgbClr val="A6BAC1"/>
                </a:solidFill>
                <a:latin typeface="Arial"/>
                <a:ea typeface="Arial"/>
                <a:cs typeface="Arial"/>
              </a:defRPr>
            </a:lvl7pPr>
            <a:lvl8pPr>
              <a:defRPr sz="1200" b="0">
                <a:solidFill>
                  <a:srgbClr val="A6BAC1"/>
                </a:solidFill>
                <a:latin typeface="Arial"/>
                <a:ea typeface="Arial"/>
                <a:cs typeface="Arial"/>
              </a:defRPr>
            </a:lvl8pPr>
            <a:lvl9pPr>
              <a:defRPr sz="1200" b="0">
                <a:solidFill>
                  <a:srgbClr val="A6BAC1"/>
                </a:solidFill>
                <a:latin typeface="Arial"/>
                <a:ea typeface="Arial"/>
                <a:cs typeface="Arial"/>
              </a:defRPr>
            </a:lvl9pPr>
          </a:lstStyle>
          <a:p xmlns:a="http://schemas.openxmlformats.org/drawingml/2006/main">
            <a:pPr>
              <a:defRPr sz="1200" b="0">
                <a:solidFill>
                  <a:srgbClr val="A6BAC1"/>
                </a:solidFill>
                <a:latin typeface="Arial"/>
                <a:ea typeface="Arial"/>
                <a:cs typeface="Arial"/>
              </a:defRPr>
            </a:pPr>
            <a:r>
              <a:rPr sz="1200" b="0">
                <a:solidFill>
                  <a:srgbClr val="A6BAC1"/>
                </a:solidFill>
                <a:latin typeface="Arial"/>
                <a:ea typeface="Arial"/>
                <a:cs typeface="Arial"/>
              </a:rPr>
              <a:t>07 / 10</a:t>
            </a:r>
          </a:p>
        </p:txBody>
      </p:sp>
      <p:sp>
        <p:nvSpPr>
          <p:cNvPr id="3" name="edge">
            <a:extLst xmlns:a="http://schemas.openxmlformats.org/drawingml/2006/main">
              <a:ext uri="{FF2B5EF4-FFF2-40B4-BE49-F238E27FC236}">
                <a16:creationId xmlns:a16="http://schemas.microsoft.com/office/drawing/2014/main" id="{1BEDDD7E-9A3E-4A6A-B6ED-1DAA4CDA23DD}"/>
              </a:ext>
            </a:extLst>
          </p:cNvPr>
          <p:cNvSpPr>
            <a:spLocks xmlns:a="http://schemas.openxmlformats.org/drawingml/2006/main" noGrp="1"/>
          </p:cNvSpPr>
          <p:nvPr/>
        </p:nvSpPr>
        <p:spPr>
          <a:xfrm xmlns:a="http://schemas.openxmlformats.org/drawingml/2006/main">
            <a:off x="609600" y="1800225"/>
            <a:ext cx="108394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EFF5F1"/>
                </a:solidFill>
                <a:latin typeface="Arial"/>
                <a:ea typeface="Arial"/>
                <a:cs typeface="Arial"/>
              </a:defRPr>
            </a:defPPr>
            <a:lvl1pPr>
              <a:defRPr sz="3225" b="1">
                <a:solidFill>
                  <a:srgbClr val="EFF5F1"/>
                </a:solidFill>
                <a:latin typeface="Arial"/>
                <a:ea typeface="Arial"/>
                <a:cs typeface="Arial"/>
              </a:defRPr>
            </a:lvl1pPr>
            <a:lvl2pPr>
              <a:defRPr sz="3225" b="1">
                <a:solidFill>
                  <a:srgbClr val="EFF5F1"/>
                </a:solidFill>
                <a:latin typeface="Arial"/>
                <a:ea typeface="Arial"/>
                <a:cs typeface="Arial"/>
              </a:defRPr>
            </a:lvl2pPr>
            <a:lvl3pPr>
              <a:defRPr sz="3225" b="1">
                <a:solidFill>
                  <a:srgbClr val="EFF5F1"/>
                </a:solidFill>
                <a:latin typeface="Arial"/>
                <a:ea typeface="Arial"/>
                <a:cs typeface="Arial"/>
              </a:defRPr>
            </a:lvl3pPr>
            <a:lvl4pPr>
              <a:defRPr sz="3225" b="1">
                <a:solidFill>
                  <a:srgbClr val="EFF5F1"/>
                </a:solidFill>
                <a:latin typeface="Arial"/>
                <a:ea typeface="Arial"/>
                <a:cs typeface="Arial"/>
              </a:defRPr>
            </a:lvl4pPr>
            <a:lvl5pPr>
              <a:defRPr sz="3225" b="1">
                <a:solidFill>
                  <a:srgbClr val="EFF5F1"/>
                </a:solidFill>
                <a:latin typeface="Arial"/>
                <a:ea typeface="Arial"/>
                <a:cs typeface="Arial"/>
              </a:defRPr>
            </a:lvl5pPr>
            <a:lvl6pPr>
              <a:defRPr sz="3225" b="1">
                <a:solidFill>
                  <a:srgbClr val="EFF5F1"/>
                </a:solidFill>
                <a:latin typeface="Arial"/>
                <a:ea typeface="Arial"/>
                <a:cs typeface="Arial"/>
              </a:defRPr>
            </a:lvl6pPr>
            <a:lvl7pPr>
              <a:defRPr sz="3225" b="1">
                <a:solidFill>
                  <a:srgbClr val="EFF5F1"/>
                </a:solidFill>
                <a:latin typeface="Arial"/>
                <a:ea typeface="Arial"/>
                <a:cs typeface="Arial"/>
              </a:defRPr>
            </a:lvl7pPr>
            <a:lvl8pPr>
              <a:defRPr sz="3225" b="1">
                <a:solidFill>
                  <a:srgbClr val="EFF5F1"/>
                </a:solidFill>
                <a:latin typeface="Arial"/>
                <a:ea typeface="Arial"/>
                <a:cs typeface="Arial"/>
              </a:defRPr>
            </a:lvl8pPr>
            <a:lvl9pPr>
              <a:defRPr sz="3225" b="1">
                <a:solidFill>
                  <a:srgbClr val="EFF5F1"/>
                </a:solidFill>
                <a:latin typeface="Arial"/>
                <a:ea typeface="Arial"/>
                <a:cs typeface="Arial"/>
              </a:defRPr>
            </a:lvl9pPr>
          </a:lstStyle>
          <a:p xmlns:a="http://schemas.openxmlformats.org/drawingml/2006/main">
            <a:pPr>
              <a:defRPr sz="3225" b="1">
                <a:solidFill>
                  <a:srgbClr val="EFF5F1"/>
                </a:solidFill>
                <a:latin typeface="Arial"/>
                <a:ea typeface="Arial"/>
                <a:cs typeface="Arial"/>
              </a:defRPr>
            </a:pPr>
            <a:r>
              <a:rPr sz="3225" b="1">
                <a:solidFill>
                  <a:srgbClr val="EFF5F1"/>
                </a:solidFill>
                <a:latin typeface="Arial"/>
                <a:ea typeface="Arial"/>
                <a:cs typeface="Arial"/>
              </a:rPr>
              <a:t>An approved mandate controls when</a:t>
            </a:r>
          </a:p>
          <a:p xmlns:a="http://schemas.openxmlformats.org/drawingml/2006/main">
            <a:pPr>
              <a:defRPr sz="3225" b="1">
                <a:solidFill>
                  <a:srgbClr val="EFF5F1"/>
                </a:solidFill>
                <a:latin typeface="Arial"/>
                <a:ea typeface="Arial"/>
                <a:cs typeface="Arial"/>
              </a:defRPr>
            </a:pPr>
            <a:r>
              <a:rPr sz="3225" b="1">
                <a:solidFill>
                  <a:srgbClr val="EFF5F1"/>
                </a:solidFill>
                <a:latin typeface="Arial"/>
                <a:ea typeface="Arial"/>
                <a:cs typeface="Arial"/>
              </a:rPr>
              <a:t>the server may complete payment.</a:t>
            </a:r>
          </a:p>
        </p:txBody>
      </p:sp>
      <p:graphicFrame>
        <p:nvGraphicFramePr>
          <p:cNvPr id="4" name="">
            <a:extLst xmlns:a="http://schemas.openxmlformats.org/drawingml/2006/main">
              <a:ext uri="{FF2B5EF4-FFF2-40B4-BE49-F238E27FC236}">
                <a16:creationId xmlns:a16="http://schemas.microsoft.com/office/drawing/2014/main" id="{91DC1C8E-0B39-473A-BFE8-367DB7C2959E}"/>
              </a:ext>
            </a:extLst>
          </p:cNvPr>
          <p:cNvGraphicFramePr/>
          <p:nvPr/>
        </p:nvGraphicFramePr>
        <p:xfrm>
          <a:off xmlns:a="http://schemas.openxmlformats.org/drawingml/2006/main" x="609600" y="3371850"/>
          <a:ext xmlns:a="http://schemas.openxmlformats.org/drawingml/2006/main" cx="10972800" cy="2095500"/>
        </p:xfrm>
        <a:graphic xmlns:a="http://schemas.openxmlformats.org/drawingml/2006/main">
          <a:graphicData uri="http://schemas.openxmlformats.org/drawingml/2006/table">
            <a:tbl>
              <a:tblPr firstRow="1" bandRow="0"/>
              <a:tblGrid>
                <a:gridCol w="4705350"/>
                <a:gridCol w="6267450"/>
              </a:tblGrid>
              <a:tr h="523875">
                <a:tc>
                  <a:txBody>
                    <a:bodyPr/>
                    <a:lstStyle/>
                    <a:p>
                      <a:r>
                        <a:rPr sz="1950" b="1">
                          <a:solidFill>
                            <a:srgbClr val="A4E3C3"/>
                          </a:solidFill>
                          <a:latin typeface="Arial"/>
                          <a:ea typeface="Arial"/>
                          <a:cs typeface="Arial"/>
                        </a:rPr>
                        <a:t>Evidence decision</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950" b="1">
                          <a:solidFill>
                            <a:srgbClr val="A4E3C3"/>
                          </a:solidFill>
                          <a:latin typeface="Arial"/>
                          <a:ea typeface="Arial"/>
                          <a:cs typeface="Arial"/>
                        </a:rPr>
                        <a:t>Financial action</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23875">
                <a:tc>
                  <a:txBody>
                    <a:bodyPr/>
                    <a:lstStyle/>
                    <a:p>
                      <a:r>
                        <a:rPr sz="1950">
                          <a:solidFill>
                            <a:srgbClr val="EFF5F1"/>
                          </a:solidFill>
                          <a:latin typeface="Arial"/>
                          <a:ea typeface="Arial"/>
                          <a:cs typeface="Arial"/>
                        </a:rPr>
                        <a:t>Approved conditions pass</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Capture, then separate supplier Payouts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23875">
                <a:tc>
                  <a:txBody>
                    <a:bodyPr/>
                    <a:lstStyle/>
                    <a:p>
                      <a:r>
                        <a:rPr sz="1950">
                          <a:solidFill>
                            <a:srgbClr val="EFF5F1"/>
                          </a:solidFill>
                          <a:latin typeface="Arial"/>
                          <a:ea typeface="Arial"/>
                          <a:cs typeface="Arial"/>
                        </a:rPr>
                        <a:t>Conditions fail or evidence is incomplete</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Void the authorization. Record the reason.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23875">
                <a:tc>
                  <a:txBody>
                    <a:bodyPr/>
                    <a:lstStyle/>
                    <a:p>
                      <a:r>
                        <a:rPr sz="1950">
                          <a:solidFill>
                            <a:srgbClr val="EFF5F1"/>
                          </a:solidFill>
                          <a:latin typeface="Arial"/>
                          <a:ea typeface="Arial"/>
                          <a:cs typeface="Arial"/>
                        </a:rPr>
                        <a:t>Provider result is uncertain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Keep unresolved and reconcile with PayPal</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5" name="disclosure">
            <a:extLst xmlns:a="http://schemas.openxmlformats.org/drawingml/2006/main">
              <a:ext uri="{FF2B5EF4-FFF2-40B4-BE49-F238E27FC236}">
                <a16:creationId xmlns:a16="http://schemas.microsoft.com/office/drawing/2014/main" id="{46F85AE0-922A-436F-98A4-BCBFF4A3805A}"/>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defRPr sz="1425" b="0">
                <a:solidFill>
                  <a:srgbClr val="A6BAC1"/>
                </a:solidFill>
                <a:latin typeface="Arial"/>
                <a:ea typeface="Arial"/>
                <a:cs typeface="Arial"/>
              </a:defRPr>
            </a:lvl1pPr>
            <a:lvl2pPr>
              <a:defRPr sz="1425" b="0">
                <a:solidFill>
                  <a:srgbClr val="A6BAC1"/>
                </a:solidFill>
                <a:latin typeface="Arial"/>
                <a:ea typeface="Arial"/>
                <a:cs typeface="Arial"/>
              </a:defRPr>
            </a:lvl2pPr>
            <a:lvl3pPr>
              <a:defRPr sz="1425" b="0">
                <a:solidFill>
                  <a:srgbClr val="A6BAC1"/>
                </a:solidFill>
                <a:latin typeface="Arial"/>
                <a:ea typeface="Arial"/>
                <a:cs typeface="Arial"/>
              </a:defRPr>
            </a:lvl3pPr>
            <a:lvl4pPr>
              <a:defRPr sz="1425" b="0">
                <a:solidFill>
                  <a:srgbClr val="A6BAC1"/>
                </a:solidFill>
                <a:latin typeface="Arial"/>
                <a:ea typeface="Arial"/>
                <a:cs typeface="Arial"/>
              </a:defRPr>
            </a:lvl4pPr>
            <a:lvl5pPr>
              <a:defRPr sz="1425" b="0">
                <a:solidFill>
                  <a:srgbClr val="A6BAC1"/>
                </a:solidFill>
                <a:latin typeface="Arial"/>
                <a:ea typeface="Arial"/>
                <a:cs typeface="Arial"/>
              </a:defRPr>
            </a:lvl5pPr>
            <a:lvl6pPr>
              <a:defRPr sz="1425" b="0">
                <a:solidFill>
                  <a:srgbClr val="A6BAC1"/>
                </a:solidFill>
                <a:latin typeface="Arial"/>
                <a:ea typeface="Arial"/>
                <a:cs typeface="Arial"/>
              </a:defRPr>
            </a:lvl6pPr>
            <a:lvl7pPr>
              <a:defRPr sz="1425" b="0">
                <a:solidFill>
                  <a:srgbClr val="A6BAC1"/>
                </a:solidFill>
                <a:latin typeface="Arial"/>
                <a:ea typeface="Arial"/>
                <a:cs typeface="Arial"/>
              </a:defRPr>
            </a:lvl7pPr>
            <a:lvl8pPr>
              <a:defRPr sz="1425" b="0">
                <a:solidFill>
                  <a:srgbClr val="A6BAC1"/>
                </a:solidFill>
                <a:latin typeface="Arial"/>
                <a:ea typeface="Arial"/>
                <a:cs typeface="Arial"/>
              </a:defRPr>
            </a:lvl8pPr>
            <a:lvl9pPr>
              <a:defRPr sz="1425" b="0">
                <a:solidFill>
                  <a:srgbClr val="A6BAC1"/>
                </a:solidFill>
                <a:latin typeface="Arial"/>
                <a:ea typeface="Arial"/>
                <a:cs typeface="Arial"/>
              </a:defRPr>
            </a:lvl9pPr>
          </a:lstStyle>
          <a:p xmlns:a="http://schemas.openxmlformats.org/drawingml/2006/main">
            <a:pPr>
              <a:defRPr sz="1425" b="0">
                <a:solidFill>
                  <a:srgbClr val="A6BAC1"/>
                </a:solidFill>
                <a:latin typeface="Arial"/>
                <a:ea typeface="Arial"/>
                <a:cs typeface="Arial"/>
              </a:defRPr>
            </a:pPr>
            <a:r>
              <a:rPr sz="1425" b="0">
                <a:solidFill>
                  <a:srgbClr val="A6BAC1"/>
                </a:solidFill>
                <a:latin typeface="Arial"/>
                <a:ea typeface="Arial"/>
                <a:cs typeface="Arial"/>
              </a:rPr>
              <a:t>One organizer sells the bundle. Supplier Payouts use separate operations and available balance.</a:t>
            </a:r>
          </a:p>
        </p:txBody>
      </p:sp>
    </p:spTree>
    <p:extLst>
      <p:ext uri="{BB962C8B-B14F-4D97-AF65-F5344CB8AC3E}">
        <p14:creationId xmlns:p14="http://schemas.microsoft.com/office/powerpoint/2010/main" val="1019684628"/>
      </p:ext>
    </p:extLst>
  </p:cSld>
</p:sld>
</file>

<file path=ppt/slides/slide8.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5F4B9D8E-642F-41C0-8A4F-5CA81D0FA543}"/>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defRPr sz="3600" b="1">
                <a:solidFill>
                  <a:srgbClr val="EFF5F1"/>
                </a:solidFill>
                <a:latin typeface="Arial"/>
                <a:ea typeface="Arial"/>
                <a:cs typeface="Arial"/>
              </a:defRPr>
            </a:lvl1pPr>
            <a:lvl2pPr>
              <a:defRPr sz="3600" b="1">
                <a:solidFill>
                  <a:srgbClr val="EFF5F1"/>
                </a:solidFill>
                <a:latin typeface="Arial"/>
                <a:ea typeface="Arial"/>
                <a:cs typeface="Arial"/>
              </a:defRPr>
            </a:lvl2pPr>
            <a:lvl3pPr>
              <a:defRPr sz="3600" b="1">
                <a:solidFill>
                  <a:srgbClr val="EFF5F1"/>
                </a:solidFill>
                <a:latin typeface="Arial"/>
                <a:ea typeface="Arial"/>
                <a:cs typeface="Arial"/>
              </a:defRPr>
            </a:lvl3pPr>
            <a:lvl4pPr>
              <a:defRPr sz="3600" b="1">
                <a:solidFill>
                  <a:srgbClr val="EFF5F1"/>
                </a:solidFill>
                <a:latin typeface="Arial"/>
                <a:ea typeface="Arial"/>
                <a:cs typeface="Arial"/>
              </a:defRPr>
            </a:lvl4pPr>
            <a:lvl5pPr>
              <a:defRPr sz="3600" b="1">
                <a:solidFill>
                  <a:srgbClr val="EFF5F1"/>
                </a:solidFill>
                <a:latin typeface="Arial"/>
                <a:ea typeface="Arial"/>
                <a:cs typeface="Arial"/>
              </a:defRPr>
            </a:lvl5pPr>
            <a:lvl6pPr>
              <a:defRPr sz="3600" b="1">
                <a:solidFill>
                  <a:srgbClr val="EFF5F1"/>
                </a:solidFill>
                <a:latin typeface="Arial"/>
                <a:ea typeface="Arial"/>
                <a:cs typeface="Arial"/>
              </a:defRPr>
            </a:lvl6pPr>
            <a:lvl7pPr>
              <a:defRPr sz="3600" b="1">
                <a:solidFill>
                  <a:srgbClr val="EFF5F1"/>
                </a:solidFill>
                <a:latin typeface="Arial"/>
                <a:ea typeface="Arial"/>
                <a:cs typeface="Arial"/>
              </a:defRPr>
            </a:lvl7pPr>
            <a:lvl8pPr>
              <a:defRPr sz="3600" b="1">
                <a:solidFill>
                  <a:srgbClr val="EFF5F1"/>
                </a:solidFill>
                <a:latin typeface="Arial"/>
                <a:ea typeface="Arial"/>
                <a:cs typeface="Arial"/>
              </a:defRPr>
            </a:lvl8pPr>
            <a:lvl9pPr>
              <a:defRPr sz="3600" b="1">
                <a:solidFill>
                  <a:srgbClr val="EFF5F1"/>
                </a:solidFill>
                <a:latin typeface="Arial"/>
                <a:ea typeface="Arial"/>
                <a:cs typeface="Arial"/>
              </a:defRPr>
            </a:lvl9pPr>
          </a:lstStyle>
          <a:p xmlns:a="http://schemas.openxmlformats.org/drawingml/2006/main">
            <a:pPr>
              <a:defRPr sz="3600" b="1">
                <a:solidFill>
                  <a:srgbClr val="EFF5F1"/>
                </a:solidFill>
                <a:latin typeface="Arial"/>
                <a:ea typeface="Arial"/>
                <a:cs typeface="Arial"/>
              </a:defRPr>
            </a:pPr>
            <a:r>
              <a:rPr sz="3600" b="1">
                <a:solidFill>
                  <a:srgbClr val="EFF5F1"/>
                </a:solidFill>
                <a:latin typeface="Arial"/>
                <a:ea typeface="Arial"/>
                <a:cs typeface="Arial"/>
              </a:rPr>
              <a:t>Verified outcomes, visible limits</a:t>
            </a:r>
          </a:p>
        </p:txBody>
      </p:sp>
      <p:sp>
        <p:nvSpPr>
          <p:cNvPr id="2" name="page">
            <a:extLst xmlns:a="http://schemas.openxmlformats.org/drawingml/2006/main">
              <a:ext uri="{FF2B5EF4-FFF2-40B4-BE49-F238E27FC236}">
                <a16:creationId xmlns:a16="http://schemas.microsoft.com/office/drawing/2014/main" id="{7A4ED4C0-070A-40E2-AF2F-908CF21A7403}"/>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defRPr sz="1200" b="0">
                <a:solidFill>
                  <a:srgbClr val="A6BAC1"/>
                </a:solidFill>
                <a:latin typeface="Arial"/>
                <a:ea typeface="Arial"/>
                <a:cs typeface="Arial"/>
              </a:defRPr>
            </a:lvl1pPr>
            <a:lvl2pPr>
              <a:defRPr sz="1200" b="0">
                <a:solidFill>
                  <a:srgbClr val="A6BAC1"/>
                </a:solidFill>
                <a:latin typeface="Arial"/>
                <a:ea typeface="Arial"/>
                <a:cs typeface="Arial"/>
              </a:defRPr>
            </a:lvl2pPr>
            <a:lvl3pPr>
              <a:defRPr sz="1200" b="0">
                <a:solidFill>
                  <a:srgbClr val="A6BAC1"/>
                </a:solidFill>
                <a:latin typeface="Arial"/>
                <a:ea typeface="Arial"/>
                <a:cs typeface="Arial"/>
              </a:defRPr>
            </a:lvl3pPr>
            <a:lvl4pPr>
              <a:defRPr sz="1200" b="0">
                <a:solidFill>
                  <a:srgbClr val="A6BAC1"/>
                </a:solidFill>
                <a:latin typeface="Arial"/>
                <a:ea typeface="Arial"/>
                <a:cs typeface="Arial"/>
              </a:defRPr>
            </a:lvl4pPr>
            <a:lvl5pPr>
              <a:defRPr sz="1200" b="0">
                <a:solidFill>
                  <a:srgbClr val="A6BAC1"/>
                </a:solidFill>
                <a:latin typeface="Arial"/>
                <a:ea typeface="Arial"/>
                <a:cs typeface="Arial"/>
              </a:defRPr>
            </a:lvl5pPr>
            <a:lvl6pPr>
              <a:defRPr sz="1200" b="0">
                <a:solidFill>
                  <a:srgbClr val="A6BAC1"/>
                </a:solidFill>
                <a:latin typeface="Arial"/>
                <a:ea typeface="Arial"/>
                <a:cs typeface="Arial"/>
              </a:defRPr>
            </a:lvl6pPr>
            <a:lvl7pPr>
              <a:defRPr sz="1200" b="0">
                <a:solidFill>
                  <a:srgbClr val="A6BAC1"/>
                </a:solidFill>
                <a:latin typeface="Arial"/>
                <a:ea typeface="Arial"/>
                <a:cs typeface="Arial"/>
              </a:defRPr>
            </a:lvl7pPr>
            <a:lvl8pPr>
              <a:defRPr sz="1200" b="0">
                <a:solidFill>
                  <a:srgbClr val="A6BAC1"/>
                </a:solidFill>
                <a:latin typeface="Arial"/>
                <a:ea typeface="Arial"/>
                <a:cs typeface="Arial"/>
              </a:defRPr>
            </a:lvl8pPr>
            <a:lvl9pPr>
              <a:defRPr sz="1200" b="0">
                <a:solidFill>
                  <a:srgbClr val="A6BAC1"/>
                </a:solidFill>
                <a:latin typeface="Arial"/>
                <a:ea typeface="Arial"/>
                <a:cs typeface="Arial"/>
              </a:defRPr>
            </a:lvl9pPr>
          </a:lstStyle>
          <a:p xmlns:a="http://schemas.openxmlformats.org/drawingml/2006/main">
            <a:pPr>
              <a:defRPr sz="1200" b="0">
                <a:solidFill>
                  <a:srgbClr val="A6BAC1"/>
                </a:solidFill>
                <a:latin typeface="Arial"/>
                <a:ea typeface="Arial"/>
                <a:cs typeface="Arial"/>
              </a:defRPr>
            </a:pPr>
            <a:r>
              <a:rPr sz="1200" b="0">
                <a:solidFill>
                  <a:srgbClr val="A6BAC1"/>
                </a:solidFill>
                <a:latin typeface="Arial"/>
                <a:ea typeface="Arial"/>
                <a:cs typeface="Arial"/>
              </a:rPr>
              <a:t>08 / 10</a:t>
            </a:r>
          </a:p>
        </p:txBody>
      </p:sp>
      <p:pic>
        <p:nvPicPr>
          <p:cNvPr id="3" name="">
            <a:extLst xmlns:a="http://schemas.openxmlformats.org/drawingml/2006/main">
              <a:ext uri="{FF2B5EF4-FFF2-40B4-BE49-F238E27FC236}">
                <a16:creationId xmlns:a16="http://schemas.microsoft.com/office/drawing/2014/main" id="{C68FC56A-5F02-43BE-A78C-0FDF0FAE91DD}"/>
              </a:ext>
            </a:extLst>
          </p:cNvPr>
          <p:cNvPicPr>
            <a:picLocks xmlns:a="http://schemas.openxmlformats.org/drawingml/2006/main" noChangeAspect="1"/>
          </p:cNvPicPr>
          <p:nvPr/>
        </p:nvPicPr>
        <p:blipFill>
          <a:blip xmlns:r="http://schemas.openxmlformats.org/officeDocument/2006/relationships" xmlns:a="http://schemas.openxmlformats.org/drawingml/2006/main" r:embed="Re0115eaf9b2c459b"/>
          <a:stretch xmlns:a="http://schemas.openxmlformats.org/drawingml/2006/main"/>
        </p:blipFill>
        <p:spPr>
          <a:xfrm xmlns:a="http://schemas.openxmlformats.org/drawingml/2006/main">
            <a:off x="906320" y="1724025"/>
            <a:ext cx="4445285" cy="4171950"/>
          </a:xfrm>
          <a:prstGeom xmlns:a="http://schemas.openxmlformats.org/drawingml/2006/main" prst="rect">
            <a:avLst/>
          </a:prstGeom>
        </p:spPr>
      </p:pic>
      <p:sp>
        <p:nvSpPr>
          <p:cNvPr id="4" name="tests">
            <a:extLst xmlns:a="http://schemas.openxmlformats.org/drawingml/2006/main">
              <a:ext uri="{FF2B5EF4-FFF2-40B4-BE49-F238E27FC236}">
                <a16:creationId xmlns:a16="http://schemas.microsoft.com/office/drawing/2014/main" id="{7E1D4726-F31A-417A-A91F-A7CF50F03A75}"/>
              </a:ext>
            </a:extLst>
          </p:cNvPr>
          <p:cNvSpPr>
            <a:spLocks xmlns:a="http://schemas.openxmlformats.org/drawingml/2006/main" noGrp="1"/>
          </p:cNvSpPr>
          <p:nvPr/>
        </p:nvSpPr>
        <p:spPr>
          <a:xfrm xmlns:a="http://schemas.openxmlformats.org/drawingml/2006/main">
            <a:off x="6315075" y="1752600"/>
            <a:ext cx="50482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6375" b="1">
                <a:solidFill>
                  <a:srgbClr val="A4E3C3"/>
                </a:solidFill>
                <a:latin typeface="Arial"/>
                <a:ea typeface="Arial"/>
                <a:cs typeface="Arial"/>
              </a:defRPr>
            </a:defPPr>
            <a:lvl1pPr>
              <a:defRPr sz="6375" b="1">
                <a:solidFill>
                  <a:srgbClr val="A4E3C3"/>
                </a:solidFill>
                <a:latin typeface="Arial"/>
                <a:ea typeface="Arial"/>
                <a:cs typeface="Arial"/>
              </a:defRPr>
            </a:lvl1pPr>
            <a:lvl2pPr>
              <a:defRPr sz="6375" b="1">
                <a:solidFill>
                  <a:srgbClr val="A4E3C3"/>
                </a:solidFill>
                <a:latin typeface="Arial"/>
                <a:ea typeface="Arial"/>
                <a:cs typeface="Arial"/>
              </a:defRPr>
            </a:lvl2pPr>
            <a:lvl3pPr>
              <a:defRPr sz="6375" b="1">
                <a:solidFill>
                  <a:srgbClr val="A4E3C3"/>
                </a:solidFill>
                <a:latin typeface="Arial"/>
                <a:ea typeface="Arial"/>
                <a:cs typeface="Arial"/>
              </a:defRPr>
            </a:lvl3pPr>
            <a:lvl4pPr>
              <a:defRPr sz="6375" b="1">
                <a:solidFill>
                  <a:srgbClr val="A4E3C3"/>
                </a:solidFill>
                <a:latin typeface="Arial"/>
                <a:ea typeface="Arial"/>
                <a:cs typeface="Arial"/>
              </a:defRPr>
            </a:lvl4pPr>
            <a:lvl5pPr>
              <a:defRPr sz="6375" b="1">
                <a:solidFill>
                  <a:srgbClr val="A4E3C3"/>
                </a:solidFill>
                <a:latin typeface="Arial"/>
                <a:ea typeface="Arial"/>
                <a:cs typeface="Arial"/>
              </a:defRPr>
            </a:lvl5pPr>
            <a:lvl6pPr>
              <a:defRPr sz="6375" b="1">
                <a:solidFill>
                  <a:srgbClr val="A4E3C3"/>
                </a:solidFill>
                <a:latin typeface="Arial"/>
                <a:ea typeface="Arial"/>
                <a:cs typeface="Arial"/>
              </a:defRPr>
            </a:lvl6pPr>
            <a:lvl7pPr>
              <a:defRPr sz="6375" b="1">
                <a:solidFill>
                  <a:srgbClr val="A4E3C3"/>
                </a:solidFill>
                <a:latin typeface="Arial"/>
                <a:ea typeface="Arial"/>
                <a:cs typeface="Arial"/>
              </a:defRPr>
            </a:lvl7pPr>
            <a:lvl8pPr>
              <a:defRPr sz="6375" b="1">
                <a:solidFill>
                  <a:srgbClr val="A4E3C3"/>
                </a:solidFill>
                <a:latin typeface="Arial"/>
                <a:ea typeface="Arial"/>
                <a:cs typeface="Arial"/>
              </a:defRPr>
            </a:lvl8pPr>
            <a:lvl9pPr>
              <a:defRPr sz="6375" b="1">
                <a:solidFill>
                  <a:srgbClr val="A4E3C3"/>
                </a:solidFill>
                <a:latin typeface="Arial"/>
                <a:ea typeface="Arial"/>
                <a:cs typeface="Arial"/>
              </a:defRPr>
            </a:lvl9pPr>
          </a:lstStyle>
          <a:p xmlns:a="http://schemas.openxmlformats.org/drawingml/2006/main">
            <a:pPr>
              <a:defRPr sz="6375" b="1">
                <a:solidFill>
                  <a:srgbClr val="A4E3C3"/>
                </a:solidFill>
                <a:latin typeface="Arial"/>
                <a:ea typeface="Arial"/>
                <a:cs typeface="Arial"/>
              </a:defRPr>
            </a:pPr>
            <a:r>
              <a:rPr sz="6375" b="1">
                <a:solidFill>
                  <a:srgbClr val="A4E3C3"/>
                </a:solidFill>
                <a:latin typeface="Arial"/>
                <a:ea typeface="Arial"/>
                <a:cs typeface="Arial"/>
              </a:rPr>
              <a:t>142</a:t>
            </a:r>
          </a:p>
        </p:txBody>
      </p:sp>
      <p:sp>
        <p:nvSpPr>
          <p:cNvPr id="5" name="tests-label">
            <a:extLst xmlns:a="http://schemas.openxmlformats.org/drawingml/2006/main">
              <a:ext uri="{FF2B5EF4-FFF2-40B4-BE49-F238E27FC236}">
                <a16:creationId xmlns:a16="http://schemas.microsoft.com/office/drawing/2014/main" id="{BC8BA89A-1535-4FB7-B2BB-C9BEF2552EEF}"/>
              </a:ext>
            </a:extLst>
          </p:cNvPr>
          <p:cNvSpPr>
            <a:spLocks xmlns:a="http://schemas.openxmlformats.org/drawingml/2006/main" noGrp="1"/>
          </p:cNvSpPr>
          <p:nvPr/>
        </p:nvSpPr>
        <p:spPr>
          <a:xfrm xmlns:a="http://schemas.openxmlformats.org/drawingml/2006/main">
            <a:off x="6362700" y="274320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FF5F1"/>
                </a:solidFill>
                <a:latin typeface="Arial"/>
                <a:ea typeface="Arial"/>
                <a:cs typeface="Arial"/>
              </a:defRPr>
            </a:defPPr>
            <a:lvl1pPr>
              <a:defRPr sz="2100" b="0">
                <a:solidFill>
                  <a:srgbClr val="EFF5F1"/>
                </a:solidFill>
                <a:latin typeface="Arial"/>
                <a:ea typeface="Arial"/>
                <a:cs typeface="Arial"/>
              </a:defRPr>
            </a:lvl1pPr>
            <a:lvl2pPr>
              <a:defRPr sz="2100" b="0">
                <a:solidFill>
                  <a:srgbClr val="EFF5F1"/>
                </a:solidFill>
                <a:latin typeface="Arial"/>
                <a:ea typeface="Arial"/>
                <a:cs typeface="Arial"/>
              </a:defRPr>
            </a:lvl2pPr>
            <a:lvl3pPr>
              <a:defRPr sz="2100" b="0">
                <a:solidFill>
                  <a:srgbClr val="EFF5F1"/>
                </a:solidFill>
                <a:latin typeface="Arial"/>
                <a:ea typeface="Arial"/>
                <a:cs typeface="Arial"/>
              </a:defRPr>
            </a:lvl3pPr>
            <a:lvl4pPr>
              <a:defRPr sz="2100" b="0">
                <a:solidFill>
                  <a:srgbClr val="EFF5F1"/>
                </a:solidFill>
                <a:latin typeface="Arial"/>
                <a:ea typeface="Arial"/>
                <a:cs typeface="Arial"/>
              </a:defRPr>
            </a:lvl4pPr>
            <a:lvl5pPr>
              <a:defRPr sz="2100" b="0">
                <a:solidFill>
                  <a:srgbClr val="EFF5F1"/>
                </a:solidFill>
                <a:latin typeface="Arial"/>
                <a:ea typeface="Arial"/>
                <a:cs typeface="Arial"/>
              </a:defRPr>
            </a:lvl5pPr>
            <a:lvl6pPr>
              <a:defRPr sz="2100" b="0">
                <a:solidFill>
                  <a:srgbClr val="EFF5F1"/>
                </a:solidFill>
                <a:latin typeface="Arial"/>
                <a:ea typeface="Arial"/>
                <a:cs typeface="Arial"/>
              </a:defRPr>
            </a:lvl6pPr>
            <a:lvl7pPr>
              <a:defRPr sz="2100" b="0">
                <a:solidFill>
                  <a:srgbClr val="EFF5F1"/>
                </a:solidFill>
                <a:latin typeface="Arial"/>
                <a:ea typeface="Arial"/>
                <a:cs typeface="Arial"/>
              </a:defRPr>
            </a:lvl7pPr>
            <a:lvl8pPr>
              <a:defRPr sz="2100" b="0">
                <a:solidFill>
                  <a:srgbClr val="EFF5F1"/>
                </a:solidFill>
                <a:latin typeface="Arial"/>
                <a:ea typeface="Arial"/>
                <a:cs typeface="Arial"/>
              </a:defRPr>
            </a:lvl8pPr>
            <a:lvl9pPr>
              <a:defRPr sz="2100" b="0">
                <a:solidFill>
                  <a:srgbClr val="EFF5F1"/>
                </a:solidFill>
                <a:latin typeface="Arial"/>
                <a:ea typeface="Arial"/>
                <a:cs typeface="Arial"/>
              </a:defRPr>
            </a:lvl9pPr>
          </a:lstStyle>
          <a:p xmlns:a="http://schemas.openxmlformats.org/drawingml/2006/main">
            <a:pPr>
              <a:defRPr sz="2100" b="0">
                <a:solidFill>
                  <a:srgbClr val="EFF5F1"/>
                </a:solidFill>
                <a:latin typeface="Arial"/>
                <a:ea typeface="Arial"/>
                <a:cs typeface="Arial"/>
              </a:defRPr>
            </a:pPr>
            <a:r>
              <a:rPr sz="2100" b="0">
                <a:solidFill>
                  <a:srgbClr val="EFF5F1"/>
                </a:solidFill>
                <a:latin typeface="Arial"/>
                <a:ea typeface="Arial"/>
                <a:cs typeface="Arial"/>
              </a:rPr>
              <a:t>automated tests at deployed revision</a:t>
            </a:r>
          </a:p>
        </p:txBody>
      </p:sp>
      <p:sp>
        <p:nvSpPr>
          <p:cNvPr id="6" name="actual-label">
            <a:extLst xmlns:a="http://schemas.openxmlformats.org/drawingml/2006/main">
              <a:ext uri="{FF2B5EF4-FFF2-40B4-BE49-F238E27FC236}">
                <a16:creationId xmlns:a16="http://schemas.microsoft.com/office/drawing/2014/main" id="{7097C26A-3F61-4401-8B35-5D56168DA116}"/>
              </a:ext>
            </a:extLst>
          </p:cNvPr>
          <p:cNvSpPr>
            <a:spLocks xmlns:a="http://schemas.openxmlformats.org/drawingml/2006/main" noGrp="1"/>
          </p:cNvSpPr>
          <p:nvPr/>
        </p:nvSpPr>
        <p:spPr>
          <a:xfrm xmlns:a="http://schemas.openxmlformats.org/drawingml/2006/main">
            <a:off x="6362700" y="3648075"/>
            <a:ext cx="500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A4E3C3"/>
                </a:solidFill>
                <a:latin typeface="Arial"/>
                <a:ea typeface="Arial"/>
                <a:cs typeface="Arial"/>
              </a:defRPr>
            </a:defPPr>
            <a:lvl1pPr>
              <a:defRPr sz="1575" b="1">
                <a:solidFill>
                  <a:srgbClr val="A4E3C3"/>
                </a:solidFill>
                <a:latin typeface="Arial"/>
                <a:ea typeface="Arial"/>
                <a:cs typeface="Arial"/>
              </a:defRPr>
            </a:lvl1pPr>
            <a:lvl2pPr>
              <a:defRPr sz="1575" b="1">
                <a:solidFill>
                  <a:srgbClr val="A4E3C3"/>
                </a:solidFill>
                <a:latin typeface="Arial"/>
                <a:ea typeface="Arial"/>
                <a:cs typeface="Arial"/>
              </a:defRPr>
            </a:lvl2pPr>
            <a:lvl3pPr>
              <a:defRPr sz="1575" b="1">
                <a:solidFill>
                  <a:srgbClr val="A4E3C3"/>
                </a:solidFill>
                <a:latin typeface="Arial"/>
                <a:ea typeface="Arial"/>
                <a:cs typeface="Arial"/>
              </a:defRPr>
            </a:lvl3pPr>
            <a:lvl4pPr>
              <a:defRPr sz="1575" b="1">
                <a:solidFill>
                  <a:srgbClr val="A4E3C3"/>
                </a:solidFill>
                <a:latin typeface="Arial"/>
                <a:ea typeface="Arial"/>
                <a:cs typeface="Arial"/>
              </a:defRPr>
            </a:lvl4pPr>
            <a:lvl5pPr>
              <a:defRPr sz="1575" b="1">
                <a:solidFill>
                  <a:srgbClr val="A4E3C3"/>
                </a:solidFill>
                <a:latin typeface="Arial"/>
                <a:ea typeface="Arial"/>
                <a:cs typeface="Arial"/>
              </a:defRPr>
            </a:lvl5pPr>
            <a:lvl6pPr>
              <a:defRPr sz="1575" b="1">
                <a:solidFill>
                  <a:srgbClr val="A4E3C3"/>
                </a:solidFill>
                <a:latin typeface="Arial"/>
                <a:ea typeface="Arial"/>
                <a:cs typeface="Arial"/>
              </a:defRPr>
            </a:lvl6pPr>
            <a:lvl7pPr>
              <a:defRPr sz="1575" b="1">
                <a:solidFill>
                  <a:srgbClr val="A4E3C3"/>
                </a:solidFill>
                <a:latin typeface="Arial"/>
                <a:ea typeface="Arial"/>
                <a:cs typeface="Arial"/>
              </a:defRPr>
            </a:lvl7pPr>
            <a:lvl8pPr>
              <a:defRPr sz="1575" b="1">
                <a:solidFill>
                  <a:srgbClr val="A4E3C3"/>
                </a:solidFill>
                <a:latin typeface="Arial"/>
                <a:ea typeface="Arial"/>
                <a:cs typeface="Arial"/>
              </a:defRPr>
            </a:lvl8pPr>
            <a:lvl9pPr>
              <a:defRPr sz="1575" b="1">
                <a:solidFill>
                  <a:srgbClr val="A4E3C3"/>
                </a:solidFill>
                <a:latin typeface="Arial"/>
                <a:ea typeface="Arial"/>
                <a:cs typeface="Arial"/>
              </a:defRPr>
            </a:lvl9pPr>
          </a:lstStyle>
          <a:p xmlns:a="http://schemas.openxmlformats.org/drawingml/2006/main">
            <a:pPr>
              <a:defRPr sz="1575" b="1">
                <a:solidFill>
                  <a:srgbClr val="A4E3C3"/>
                </a:solidFill>
                <a:latin typeface="Arial"/>
                <a:ea typeface="Arial"/>
                <a:cs typeface="Arial"/>
              </a:defRPr>
            </a:pPr>
            <a:r>
              <a:rPr sz="1575" b="1">
                <a:solidFill>
                  <a:srgbClr val="A4E3C3"/>
                </a:solidFill>
                <a:latin typeface="Arial"/>
                <a:ea typeface="Arial"/>
                <a:cs typeface="Arial"/>
              </a:rPr>
              <a:t>RECORDED PRIVATE RUN</a:t>
            </a:r>
          </a:p>
        </p:txBody>
      </p:sp>
      <p:sp>
        <p:nvSpPr>
          <p:cNvPr id="7" name="actual">
            <a:extLst xmlns:a="http://schemas.openxmlformats.org/drawingml/2006/main">
              <a:ext uri="{FF2B5EF4-FFF2-40B4-BE49-F238E27FC236}">
                <a16:creationId xmlns:a16="http://schemas.microsoft.com/office/drawing/2014/main" id="{2B07944B-019E-42A6-A9AB-014A4A00BCAB}"/>
              </a:ext>
            </a:extLst>
          </p:cNvPr>
          <p:cNvSpPr>
            <a:spLocks xmlns:a="http://schemas.openxmlformats.org/drawingml/2006/main" noGrp="1"/>
          </p:cNvSpPr>
          <p:nvPr/>
        </p:nvSpPr>
        <p:spPr>
          <a:xfrm xmlns:a="http://schemas.openxmlformats.org/drawingml/2006/main">
            <a:off x="6362700" y="4048125"/>
            <a:ext cx="5000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EFF5F1"/>
                </a:solidFill>
                <a:latin typeface="Arial"/>
                <a:ea typeface="Arial"/>
                <a:cs typeface="Arial"/>
              </a:defRPr>
            </a:defPPr>
            <a:lvl1pPr>
              <a:defRPr sz="2025" b="0">
                <a:solidFill>
                  <a:srgbClr val="EFF5F1"/>
                </a:solidFill>
                <a:latin typeface="Arial"/>
                <a:ea typeface="Arial"/>
                <a:cs typeface="Arial"/>
              </a:defRPr>
            </a:lvl1pPr>
            <a:lvl2pPr>
              <a:defRPr sz="2025" b="0">
                <a:solidFill>
                  <a:srgbClr val="EFF5F1"/>
                </a:solidFill>
                <a:latin typeface="Arial"/>
                <a:ea typeface="Arial"/>
                <a:cs typeface="Arial"/>
              </a:defRPr>
            </a:lvl2pPr>
            <a:lvl3pPr>
              <a:defRPr sz="2025" b="0">
                <a:solidFill>
                  <a:srgbClr val="EFF5F1"/>
                </a:solidFill>
                <a:latin typeface="Arial"/>
                <a:ea typeface="Arial"/>
                <a:cs typeface="Arial"/>
              </a:defRPr>
            </a:lvl3pPr>
            <a:lvl4pPr>
              <a:defRPr sz="2025" b="0">
                <a:solidFill>
                  <a:srgbClr val="EFF5F1"/>
                </a:solidFill>
                <a:latin typeface="Arial"/>
                <a:ea typeface="Arial"/>
                <a:cs typeface="Arial"/>
              </a:defRPr>
            </a:lvl4pPr>
            <a:lvl5pPr>
              <a:defRPr sz="2025" b="0">
                <a:solidFill>
                  <a:srgbClr val="EFF5F1"/>
                </a:solidFill>
                <a:latin typeface="Arial"/>
                <a:ea typeface="Arial"/>
                <a:cs typeface="Arial"/>
              </a:defRPr>
            </a:lvl5pPr>
            <a:lvl6pPr>
              <a:defRPr sz="2025" b="0">
                <a:solidFill>
                  <a:srgbClr val="EFF5F1"/>
                </a:solidFill>
                <a:latin typeface="Arial"/>
                <a:ea typeface="Arial"/>
                <a:cs typeface="Arial"/>
              </a:defRPr>
            </a:lvl6pPr>
            <a:lvl7pPr>
              <a:defRPr sz="2025" b="0">
                <a:solidFill>
                  <a:srgbClr val="EFF5F1"/>
                </a:solidFill>
                <a:latin typeface="Arial"/>
                <a:ea typeface="Arial"/>
                <a:cs typeface="Arial"/>
              </a:defRPr>
            </a:lvl7pPr>
            <a:lvl8pPr>
              <a:defRPr sz="2025" b="0">
                <a:solidFill>
                  <a:srgbClr val="EFF5F1"/>
                </a:solidFill>
                <a:latin typeface="Arial"/>
                <a:ea typeface="Arial"/>
                <a:cs typeface="Arial"/>
              </a:defRPr>
            </a:lvl8pPr>
            <a:lvl9pPr>
              <a:defRPr sz="2025" b="0">
                <a:solidFill>
                  <a:srgbClr val="EFF5F1"/>
                </a:solidFill>
                <a:latin typeface="Arial"/>
                <a:ea typeface="Arial"/>
                <a:cs typeface="Arial"/>
              </a:defRPr>
            </a:lvl9pPr>
          </a:lstStyle>
          <a:p xmlns:a="http://schemas.openxmlformats.org/drawingml/2006/main">
            <a:pPr>
              <a:defRPr sz="2025" b="0">
                <a:solidFill>
                  <a:srgbClr val="EFF5F1"/>
                </a:solidFill>
                <a:latin typeface="Arial"/>
                <a:ea typeface="Arial"/>
                <a:cs typeface="Arial"/>
              </a:defRPr>
            </a:pPr>
            <a:r>
              <a:rPr sz="2025" b="0">
                <a:solidFill>
                  <a:srgbClr val="EFF5F1"/>
                </a:solidFill>
                <a:latin typeface="Arial"/>
                <a:ea typeface="Arial"/>
                <a:cs typeface="Arial"/>
              </a:rPr>
              <a:t>3 Gemini quotes</a:t>
            </a:r>
          </a:p>
          <a:p xmlns:a="http://schemas.openxmlformats.org/drawingml/2006/main">
            <a:pPr>
              <a:defRPr sz="2025" b="0">
                <a:solidFill>
                  <a:srgbClr val="EFF5F1"/>
                </a:solidFill>
                <a:latin typeface="Arial"/>
                <a:ea typeface="Arial"/>
                <a:cs typeface="Arial"/>
              </a:defRPr>
            </a:pPr>
            <a:r>
              <a:rPr sz="2025" b="0">
                <a:solidFill>
                  <a:srgbClr val="EFF5F1"/>
                </a:solidFill>
                <a:latin typeface="Arial"/>
                <a:ea typeface="Arial"/>
                <a:cs typeface="Arial"/>
              </a:rPr>
              <a:t>€1,650 Sandbox capture</a:t>
            </a:r>
          </a:p>
          <a:p xmlns:a="http://schemas.openxmlformats.org/drawingml/2006/main">
            <a:pPr>
              <a:defRPr sz="2025" b="0">
                <a:solidFill>
                  <a:srgbClr val="EFF5F1"/>
                </a:solidFill>
                <a:latin typeface="Arial"/>
                <a:ea typeface="Arial"/>
                <a:cs typeface="Arial"/>
              </a:defRPr>
            </a:pPr>
            <a:r>
              <a:rPr sz="2025" b="0">
                <a:solidFill>
                  <a:srgbClr val="EFF5F1"/>
                </a:solidFill>
                <a:latin typeface="Arial"/>
                <a:ea typeface="Arial"/>
                <a:cs typeface="Arial"/>
              </a:rPr>
              <a:t>3 supplier items confirmed SUCCESS</a:t>
            </a:r>
          </a:p>
        </p:txBody>
      </p:sp>
      <p:sp>
        <p:nvSpPr>
          <p:cNvPr id="8" name="oracle-limit">
            <a:extLst xmlns:a="http://schemas.openxmlformats.org/drawingml/2006/main">
              <a:ext uri="{FF2B5EF4-FFF2-40B4-BE49-F238E27FC236}">
                <a16:creationId xmlns:a16="http://schemas.microsoft.com/office/drawing/2014/main" id="{6B39DCAB-A83C-4B6C-9B82-68095BA0C854}"/>
              </a:ext>
            </a:extLst>
          </p:cNvPr>
          <p:cNvSpPr>
            <a:spLocks xmlns:a="http://schemas.openxmlformats.org/drawingml/2006/main" noGrp="1"/>
          </p:cNvSpPr>
          <p:nvPr/>
        </p:nvSpPr>
        <p:spPr>
          <a:xfrm xmlns:a="http://schemas.openxmlformats.org/drawingml/2006/main">
            <a:off x="6362700" y="5286375"/>
            <a:ext cx="5000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A6BAC1"/>
                </a:solidFill>
                <a:latin typeface="Arial"/>
                <a:ea typeface="Arial"/>
                <a:cs typeface="Arial"/>
              </a:defRPr>
            </a:defPPr>
            <a:lvl1pPr>
              <a:defRPr sz="1725" b="0">
                <a:solidFill>
                  <a:srgbClr val="A6BAC1"/>
                </a:solidFill>
                <a:latin typeface="Arial"/>
                <a:ea typeface="Arial"/>
                <a:cs typeface="Arial"/>
              </a:defRPr>
            </a:lvl1pPr>
            <a:lvl2pPr>
              <a:defRPr sz="1725" b="0">
                <a:solidFill>
                  <a:srgbClr val="A6BAC1"/>
                </a:solidFill>
                <a:latin typeface="Arial"/>
                <a:ea typeface="Arial"/>
                <a:cs typeface="Arial"/>
              </a:defRPr>
            </a:lvl2pPr>
            <a:lvl3pPr>
              <a:defRPr sz="1725" b="0">
                <a:solidFill>
                  <a:srgbClr val="A6BAC1"/>
                </a:solidFill>
                <a:latin typeface="Arial"/>
                <a:ea typeface="Arial"/>
                <a:cs typeface="Arial"/>
              </a:defRPr>
            </a:lvl3pPr>
            <a:lvl4pPr>
              <a:defRPr sz="1725" b="0">
                <a:solidFill>
                  <a:srgbClr val="A6BAC1"/>
                </a:solidFill>
                <a:latin typeface="Arial"/>
                <a:ea typeface="Arial"/>
                <a:cs typeface="Arial"/>
              </a:defRPr>
            </a:lvl4pPr>
            <a:lvl5pPr>
              <a:defRPr sz="1725" b="0">
                <a:solidFill>
                  <a:srgbClr val="A6BAC1"/>
                </a:solidFill>
                <a:latin typeface="Arial"/>
                <a:ea typeface="Arial"/>
                <a:cs typeface="Arial"/>
              </a:defRPr>
            </a:lvl5pPr>
            <a:lvl6pPr>
              <a:defRPr sz="1725" b="0">
                <a:solidFill>
                  <a:srgbClr val="A6BAC1"/>
                </a:solidFill>
                <a:latin typeface="Arial"/>
                <a:ea typeface="Arial"/>
                <a:cs typeface="Arial"/>
              </a:defRPr>
            </a:lvl6pPr>
            <a:lvl7pPr>
              <a:defRPr sz="1725" b="0">
                <a:solidFill>
                  <a:srgbClr val="A6BAC1"/>
                </a:solidFill>
                <a:latin typeface="Arial"/>
                <a:ea typeface="Arial"/>
                <a:cs typeface="Arial"/>
              </a:defRPr>
            </a:lvl7pPr>
            <a:lvl8pPr>
              <a:defRPr sz="1725" b="0">
                <a:solidFill>
                  <a:srgbClr val="A6BAC1"/>
                </a:solidFill>
                <a:latin typeface="Arial"/>
                <a:ea typeface="Arial"/>
                <a:cs typeface="Arial"/>
              </a:defRPr>
            </a:lvl8pPr>
            <a:lvl9pPr>
              <a:defRPr sz="1725" b="0">
                <a:solidFill>
                  <a:srgbClr val="A6BAC1"/>
                </a:solidFill>
                <a:latin typeface="Arial"/>
                <a:ea typeface="Arial"/>
                <a:cs typeface="Arial"/>
              </a:defRPr>
            </a:lvl9pPr>
          </a:lstStyle>
          <a:p xmlns:a="http://schemas.openxmlformats.org/drawingml/2006/main">
            <a:pPr>
              <a:defRPr sz="1725" b="0">
                <a:solidFill>
                  <a:srgbClr val="A6BAC1"/>
                </a:solidFill>
                <a:latin typeface="Arial"/>
                <a:ea typeface="Arial"/>
                <a:cs typeface="Arial"/>
              </a:defRPr>
            </a:pPr>
            <a:r>
              <a:rPr sz="1725" b="0">
                <a:solidFill>
                  <a:srgbClr val="A6BAC1"/>
                </a:solidFill>
                <a:latin typeface="Arial"/>
                <a:ea typeface="Arial"/>
                <a:cs typeface="Arial"/>
              </a:rPr>
              <a:t>MET Norway forecast preview is read-only. Complete local settlement observations remain pending.</a:t>
            </a:r>
          </a:p>
        </p:txBody>
      </p:sp>
      <p:sp>
        <p:nvSpPr>
          <p:cNvPr id="9" name="disclosure">
            <a:extLst xmlns:a="http://schemas.openxmlformats.org/drawingml/2006/main">
              <a:ext uri="{FF2B5EF4-FFF2-40B4-BE49-F238E27FC236}">
                <a16:creationId xmlns:a16="http://schemas.microsoft.com/office/drawing/2014/main" id="{3ABEDFD9-3C99-4FA4-96F1-71DFE96A2620}"/>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DFBF7E"/>
                </a:solidFill>
                <a:latin typeface="Arial"/>
                <a:ea typeface="Arial"/>
                <a:cs typeface="Arial"/>
              </a:defRPr>
            </a:defPPr>
            <a:lvl1pPr>
              <a:defRPr sz="1425" b="0">
                <a:solidFill>
                  <a:srgbClr val="DFBF7E"/>
                </a:solidFill>
                <a:latin typeface="Arial"/>
                <a:ea typeface="Arial"/>
                <a:cs typeface="Arial"/>
              </a:defRPr>
            </a:lvl1pPr>
            <a:lvl2pPr>
              <a:defRPr sz="1425" b="0">
                <a:solidFill>
                  <a:srgbClr val="DFBF7E"/>
                </a:solidFill>
                <a:latin typeface="Arial"/>
                <a:ea typeface="Arial"/>
                <a:cs typeface="Arial"/>
              </a:defRPr>
            </a:lvl2pPr>
            <a:lvl3pPr>
              <a:defRPr sz="1425" b="0">
                <a:solidFill>
                  <a:srgbClr val="DFBF7E"/>
                </a:solidFill>
                <a:latin typeface="Arial"/>
                <a:ea typeface="Arial"/>
                <a:cs typeface="Arial"/>
              </a:defRPr>
            </a:lvl3pPr>
            <a:lvl4pPr>
              <a:defRPr sz="1425" b="0">
                <a:solidFill>
                  <a:srgbClr val="DFBF7E"/>
                </a:solidFill>
                <a:latin typeface="Arial"/>
                <a:ea typeface="Arial"/>
                <a:cs typeface="Arial"/>
              </a:defRPr>
            </a:lvl4pPr>
            <a:lvl5pPr>
              <a:defRPr sz="1425" b="0">
                <a:solidFill>
                  <a:srgbClr val="DFBF7E"/>
                </a:solidFill>
                <a:latin typeface="Arial"/>
                <a:ea typeface="Arial"/>
                <a:cs typeface="Arial"/>
              </a:defRPr>
            </a:lvl5pPr>
            <a:lvl6pPr>
              <a:defRPr sz="1425" b="0">
                <a:solidFill>
                  <a:srgbClr val="DFBF7E"/>
                </a:solidFill>
                <a:latin typeface="Arial"/>
                <a:ea typeface="Arial"/>
                <a:cs typeface="Arial"/>
              </a:defRPr>
            </a:lvl6pPr>
            <a:lvl7pPr>
              <a:defRPr sz="1425" b="0">
                <a:solidFill>
                  <a:srgbClr val="DFBF7E"/>
                </a:solidFill>
                <a:latin typeface="Arial"/>
                <a:ea typeface="Arial"/>
                <a:cs typeface="Arial"/>
              </a:defRPr>
            </a:lvl7pPr>
            <a:lvl8pPr>
              <a:defRPr sz="1425" b="0">
                <a:solidFill>
                  <a:srgbClr val="DFBF7E"/>
                </a:solidFill>
                <a:latin typeface="Arial"/>
                <a:ea typeface="Arial"/>
                <a:cs typeface="Arial"/>
              </a:defRPr>
            </a:lvl8pPr>
            <a:lvl9pPr>
              <a:defRPr sz="1425" b="0">
                <a:solidFill>
                  <a:srgbClr val="DFBF7E"/>
                </a:solidFill>
                <a:latin typeface="Arial"/>
                <a:ea typeface="Arial"/>
                <a:cs typeface="Arial"/>
              </a:defRPr>
            </a:lvl9pPr>
          </a:lstStyle>
          <a:p xmlns:a="http://schemas.openxmlformats.org/drawingml/2006/main">
            <a:pPr>
              <a:defRPr sz="1425" b="0">
                <a:solidFill>
                  <a:srgbClr val="DFBF7E"/>
                </a:solidFill>
                <a:latin typeface="Arial"/>
                <a:ea typeface="Arial"/>
                <a:cs typeface="Arial"/>
              </a:defRPr>
            </a:pPr>
            <a:r>
              <a:rPr sz="1425" b="0">
                <a:solidFill>
                  <a:srgbClr val="DFBF7E"/>
                </a:solidFill>
                <a:latin typeface="Arial"/>
                <a:ea typeface="Arial"/>
                <a:cs typeface="Arial"/>
              </a:rPr>
              <a:t>Current app: c4428e9. Provider proof: historical baselines. Inventory and settlement weather: fixtures.</a:t>
            </a:r>
          </a:p>
        </p:txBody>
      </p:sp>
    </p:spTree>
    <p:extLst>
      <p:ext uri="{BB962C8B-B14F-4D97-AF65-F5344CB8AC3E}">
        <p14:creationId xmlns:p14="http://schemas.microsoft.com/office/powerpoint/2010/main" val="1624152291"/>
      </p:ext>
    </p:extLst>
  </p:cSld>
</p:sld>
</file>

<file path=ppt/slides/slide9.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22AA81D2-9A08-463D-B104-94A9BE1B52F4}"/>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defRPr sz="3600" b="1">
                <a:solidFill>
                  <a:srgbClr val="EFF5F1"/>
                </a:solidFill>
                <a:latin typeface="Arial"/>
                <a:ea typeface="Arial"/>
                <a:cs typeface="Arial"/>
              </a:defRPr>
            </a:lvl1pPr>
            <a:lvl2pPr>
              <a:defRPr sz="3600" b="1">
                <a:solidFill>
                  <a:srgbClr val="EFF5F1"/>
                </a:solidFill>
                <a:latin typeface="Arial"/>
                <a:ea typeface="Arial"/>
                <a:cs typeface="Arial"/>
              </a:defRPr>
            </a:lvl2pPr>
            <a:lvl3pPr>
              <a:defRPr sz="3600" b="1">
                <a:solidFill>
                  <a:srgbClr val="EFF5F1"/>
                </a:solidFill>
                <a:latin typeface="Arial"/>
                <a:ea typeface="Arial"/>
                <a:cs typeface="Arial"/>
              </a:defRPr>
            </a:lvl3pPr>
            <a:lvl4pPr>
              <a:defRPr sz="3600" b="1">
                <a:solidFill>
                  <a:srgbClr val="EFF5F1"/>
                </a:solidFill>
                <a:latin typeface="Arial"/>
                <a:ea typeface="Arial"/>
                <a:cs typeface="Arial"/>
              </a:defRPr>
            </a:lvl4pPr>
            <a:lvl5pPr>
              <a:defRPr sz="3600" b="1">
                <a:solidFill>
                  <a:srgbClr val="EFF5F1"/>
                </a:solidFill>
                <a:latin typeface="Arial"/>
                <a:ea typeface="Arial"/>
                <a:cs typeface="Arial"/>
              </a:defRPr>
            </a:lvl5pPr>
            <a:lvl6pPr>
              <a:defRPr sz="3600" b="1">
                <a:solidFill>
                  <a:srgbClr val="EFF5F1"/>
                </a:solidFill>
                <a:latin typeface="Arial"/>
                <a:ea typeface="Arial"/>
                <a:cs typeface="Arial"/>
              </a:defRPr>
            </a:lvl6pPr>
            <a:lvl7pPr>
              <a:defRPr sz="3600" b="1">
                <a:solidFill>
                  <a:srgbClr val="EFF5F1"/>
                </a:solidFill>
                <a:latin typeface="Arial"/>
                <a:ea typeface="Arial"/>
                <a:cs typeface="Arial"/>
              </a:defRPr>
            </a:lvl7pPr>
            <a:lvl8pPr>
              <a:defRPr sz="3600" b="1">
                <a:solidFill>
                  <a:srgbClr val="EFF5F1"/>
                </a:solidFill>
                <a:latin typeface="Arial"/>
                <a:ea typeface="Arial"/>
                <a:cs typeface="Arial"/>
              </a:defRPr>
            </a:lvl8pPr>
            <a:lvl9pPr>
              <a:defRPr sz="3600" b="1">
                <a:solidFill>
                  <a:srgbClr val="EFF5F1"/>
                </a:solidFill>
                <a:latin typeface="Arial"/>
                <a:ea typeface="Arial"/>
                <a:cs typeface="Arial"/>
              </a:defRPr>
            </a:lvl9pPr>
          </a:lstStyle>
          <a:p xmlns:a="http://schemas.openxmlformats.org/drawingml/2006/main">
            <a:pPr>
              <a:defRPr sz="3600" b="1">
                <a:solidFill>
                  <a:srgbClr val="EFF5F1"/>
                </a:solidFill>
                <a:latin typeface="Arial"/>
                <a:ea typeface="Arial"/>
                <a:cs typeface="Arial"/>
              </a:defRPr>
            </a:pPr>
            <a:r>
              <a:rPr sz="3600" b="1">
                <a:solidFill>
                  <a:srgbClr val="EFF5F1"/>
                </a:solidFill>
                <a:latin typeface="Arial"/>
                <a:ea typeface="Arial"/>
                <a:cs typeface="Arial"/>
              </a:rPr>
              <a:t>The first customer is the organizer</a:t>
            </a:r>
          </a:p>
        </p:txBody>
      </p:sp>
      <p:sp>
        <p:nvSpPr>
          <p:cNvPr id="2" name="page">
            <a:extLst xmlns:a="http://schemas.openxmlformats.org/drawingml/2006/main">
              <a:ext uri="{FF2B5EF4-FFF2-40B4-BE49-F238E27FC236}">
                <a16:creationId xmlns:a16="http://schemas.microsoft.com/office/drawing/2014/main" id="{43A953E4-6D76-498E-8D47-30DE4197CA3D}"/>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defRPr sz="1200" b="0">
                <a:solidFill>
                  <a:srgbClr val="A6BAC1"/>
                </a:solidFill>
                <a:latin typeface="Arial"/>
                <a:ea typeface="Arial"/>
                <a:cs typeface="Arial"/>
              </a:defRPr>
            </a:lvl1pPr>
            <a:lvl2pPr>
              <a:defRPr sz="1200" b="0">
                <a:solidFill>
                  <a:srgbClr val="A6BAC1"/>
                </a:solidFill>
                <a:latin typeface="Arial"/>
                <a:ea typeface="Arial"/>
                <a:cs typeface="Arial"/>
              </a:defRPr>
            </a:lvl2pPr>
            <a:lvl3pPr>
              <a:defRPr sz="1200" b="0">
                <a:solidFill>
                  <a:srgbClr val="A6BAC1"/>
                </a:solidFill>
                <a:latin typeface="Arial"/>
                <a:ea typeface="Arial"/>
                <a:cs typeface="Arial"/>
              </a:defRPr>
            </a:lvl3pPr>
            <a:lvl4pPr>
              <a:defRPr sz="1200" b="0">
                <a:solidFill>
                  <a:srgbClr val="A6BAC1"/>
                </a:solidFill>
                <a:latin typeface="Arial"/>
                <a:ea typeface="Arial"/>
                <a:cs typeface="Arial"/>
              </a:defRPr>
            </a:lvl4pPr>
            <a:lvl5pPr>
              <a:defRPr sz="1200" b="0">
                <a:solidFill>
                  <a:srgbClr val="A6BAC1"/>
                </a:solidFill>
                <a:latin typeface="Arial"/>
                <a:ea typeface="Arial"/>
                <a:cs typeface="Arial"/>
              </a:defRPr>
            </a:lvl5pPr>
            <a:lvl6pPr>
              <a:defRPr sz="1200" b="0">
                <a:solidFill>
                  <a:srgbClr val="A6BAC1"/>
                </a:solidFill>
                <a:latin typeface="Arial"/>
                <a:ea typeface="Arial"/>
                <a:cs typeface="Arial"/>
              </a:defRPr>
            </a:lvl6pPr>
            <a:lvl7pPr>
              <a:defRPr sz="1200" b="0">
                <a:solidFill>
                  <a:srgbClr val="A6BAC1"/>
                </a:solidFill>
                <a:latin typeface="Arial"/>
                <a:ea typeface="Arial"/>
                <a:cs typeface="Arial"/>
              </a:defRPr>
            </a:lvl7pPr>
            <a:lvl8pPr>
              <a:defRPr sz="1200" b="0">
                <a:solidFill>
                  <a:srgbClr val="A6BAC1"/>
                </a:solidFill>
                <a:latin typeface="Arial"/>
                <a:ea typeface="Arial"/>
                <a:cs typeface="Arial"/>
              </a:defRPr>
            </a:lvl8pPr>
            <a:lvl9pPr>
              <a:defRPr sz="1200" b="0">
                <a:solidFill>
                  <a:srgbClr val="A6BAC1"/>
                </a:solidFill>
                <a:latin typeface="Arial"/>
                <a:ea typeface="Arial"/>
                <a:cs typeface="Arial"/>
              </a:defRPr>
            </a:lvl9pPr>
          </a:lstStyle>
          <a:p xmlns:a="http://schemas.openxmlformats.org/drawingml/2006/main">
            <a:pPr>
              <a:defRPr sz="1200" b="0">
                <a:solidFill>
                  <a:srgbClr val="A6BAC1"/>
                </a:solidFill>
                <a:latin typeface="Arial"/>
                <a:ea typeface="Arial"/>
                <a:cs typeface="Arial"/>
              </a:defRPr>
            </a:pPr>
            <a:r>
              <a:rPr sz="1200" b="0">
                <a:solidFill>
                  <a:srgbClr val="A6BAC1"/>
                </a:solidFill>
                <a:latin typeface="Arial"/>
                <a:ea typeface="Arial"/>
                <a:cs typeface="Arial"/>
              </a:rPr>
              <a:t>09 / 10</a:t>
            </a:r>
          </a:p>
        </p:txBody>
      </p:sp>
      <p:sp>
        <p:nvSpPr>
          <p:cNvPr id="3" name="pilot-label">
            <a:extLst xmlns:a="http://schemas.openxmlformats.org/drawingml/2006/main">
              <a:ext uri="{FF2B5EF4-FFF2-40B4-BE49-F238E27FC236}">
                <a16:creationId xmlns:a16="http://schemas.microsoft.com/office/drawing/2014/main" id="{DD2B033F-DD9B-4E8F-A334-A318A03A7FBF}"/>
              </a:ext>
            </a:extLst>
          </p:cNvPr>
          <p:cNvSpPr>
            <a:spLocks xmlns:a="http://schemas.openxmlformats.org/drawingml/2006/main" noGrp="1"/>
          </p:cNvSpPr>
          <p:nvPr/>
        </p:nvSpPr>
        <p:spPr>
          <a:xfrm xmlns:a="http://schemas.openxmlformats.org/drawingml/2006/main">
            <a:off x="609600" y="1905000"/>
            <a:ext cx="581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A4E3C3"/>
                </a:solidFill>
                <a:latin typeface="Arial"/>
                <a:ea typeface="Arial"/>
                <a:cs typeface="Arial"/>
              </a:defRPr>
            </a:defPPr>
            <a:lvl1pPr>
              <a:defRPr sz="1725" b="1">
                <a:solidFill>
                  <a:srgbClr val="A4E3C3"/>
                </a:solidFill>
                <a:latin typeface="Arial"/>
                <a:ea typeface="Arial"/>
                <a:cs typeface="Arial"/>
              </a:defRPr>
            </a:lvl1pPr>
            <a:lvl2pPr>
              <a:defRPr sz="1725" b="1">
                <a:solidFill>
                  <a:srgbClr val="A4E3C3"/>
                </a:solidFill>
                <a:latin typeface="Arial"/>
                <a:ea typeface="Arial"/>
                <a:cs typeface="Arial"/>
              </a:defRPr>
            </a:lvl2pPr>
            <a:lvl3pPr>
              <a:defRPr sz="1725" b="1">
                <a:solidFill>
                  <a:srgbClr val="A4E3C3"/>
                </a:solidFill>
                <a:latin typeface="Arial"/>
                <a:ea typeface="Arial"/>
                <a:cs typeface="Arial"/>
              </a:defRPr>
            </a:lvl3pPr>
            <a:lvl4pPr>
              <a:defRPr sz="1725" b="1">
                <a:solidFill>
                  <a:srgbClr val="A4E3C3"/>
                </a:solidFill>
                <a:latin typeface="Arial"/>
                <a:ea typeface="Arial"/>
                <a:cs typeface="Arial"/>
              </a:defRPr>
            </a:lvl4pPr>
            <a:lvl5pPr>
              <a:defRPr sz="1725" b="1">
                <a:solidFill>
                  <a:srgbClr val="A4E3C3"/>
                </a:solidFill>
                <a:latin typeface="Arial"/>
                <a:ea typeface="Arial"/>
                <a:cs typeface="Arial"/>
              </a:defRPr>
            </a:lvl5pPr>
            <a:lvl6pPr>
              <a:defRPr sz="1725" b="1">
                <a:solidFill>
                  <a:srgbClr val="A4E3C3"/>
                </a:solidFill>
                <a:latin typeface="Arial"/>
                <a:ea typeface="Arial"/>
                <a:cs typeface="Arial"/>
              </a:defRPr>
            </a:lvl6pPr>
            <a:lvl7pPr>
              <a:defRPr sz="1725" b="1">
                <a:solidFill>
                  <a:srgbClr val="A4E3C3"/>
                </a:solidFill>
                <a:latin typeface="Arial"/>
                <a:ea typeface="Arial"/>
                <a:cs typeface="Arial"/>
              </a:defRPr>
            </a:lvl7pPr>
            <a:lvl8pPr>
              <a:defRPr sz="1725" b="1">
                <a:solidFill>
                  <a:srgbClr val="A4E3C3"/>
                </a:solidFill>
                <a:latin typeface="Arial"/>
                <a:ea typeface="Arial"/>
                <a:cs typeface="Arial"/>
              </a:defRPr>
            </a:lvl8pPr>
            <a:lvl9pPr>
              <a:defRPr sz="1725" b="1">
                <a:solidFill>
                  <a:srgbClr val="A4E3C3"/>
                </a:solidFill>
                <a:latin typeface="Arial"/>
                <a:ea typeface="Arial"/>
                <a:cs typeface="Arial"/>
              </a:defRPr>
            </a:lvl9pPr>
          </a:lstStyle>
          <a:p xmlns:a="http://schemas.openxmlformats.org/drawingml/2006/main">
            <a:pPr>
              <a:defRPr sz="1725" b="1">
                <a:solidFill>
                  <a:srgbClr val="A4E3C3"/>
                </a:solidFill>
                <a:latin typeface="Arial"/>
                <a:ea typeface="Arial"/>
                <a:cs typeface="Arial"/>
              </a:defRPr>
            </a:pPr>
            <a:r>
              <a:rPr sz="1725" b="1">
                <a:solidFill>
                  <a:srgbClr val="A4E3C3"/>
                </a:solidFill>
                <a:latin typeface="Arial"/>
                <a:ea typeface="Arial"/>
                <a:cs typeface="Arial"/>
              </a:rPr>
              <a:t>PROPOSED PILOT</a:t>
            </a:r>
          </a:p>
        </p:txBody>
      </p:sp>
      <p:sp>
        <p:nvSpPr>
          <p:cNvPr id="4" name="pilot">
            <a:extLst xmlns:a="http://schemas.openxmlformats.org/drawingml/2006/main">
              <a:ext uri="{FF2B5EF4-FFF2-40B4-BE49-F238E27FC236}">
                <a16:creationId xmlns:a16="http://schemas.microsoft.com/office/drawing/2014/main" id="{D2F18F25-AAB4-4CF5-BCF1-245085813B4A}"/>
              </a:ext>
            </a:extLst>
          </p:cNvPr>
          <p:cNvSpPr>
            <a:spLocks xmlns:a="http://schemas.openxmlformats.org/drawingml/2006/main" noGrp="1"/>
          </p:cNvSpPr>
          <p:nvPr/>
        </p:nvSpPr>
        <p:spPr>
          <a:xfrm xmlns:a="http://schemas.openxmlformats.org/drawingml/2006/main">
            <a:off x="609600" y="2476500"/>
            <a:ext cx="58102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00" b="1">
                <a:solidFill>
                  <a:srgbClr val="EFF5F1"/>
                </a:solidFill>
                <a:latin typeface="Arial"/>
                <a:ea typeface="Arial"/>
                <a:cs typeface="Arial"/>
              </a:defRPr>
            </a:defPPr>
            <a:lvl1pPr>
              <a:defRPr sz="2700" b="1">
                <a:solidFill>
                  <a:srgbClr val="EFF5F1"/>
                </a:solidFill>
                <a:latin typeface="Arial"/>
                <a:ea typeface="Arial"/>
                <a:cs typeface="Arial"/>
              </a:defRPr>
            </a:lvl1pPr>
            <a:lvl2pPr>
              <a:defRPr sz="2700" b="1">
                <a:solidFill>
                  <a:srgbClr val="EFF5F1"/>
                </a:solidFill>
                <a:latin typeface="Arial"/>
                <a:ea typeface="Arial"/>
                <a:cs typeface="Arial"/>
              </a:defRPr>
            </a:lvl2pPr>
            <a:lvl3pPr>
              <a:defRPr sz="2700" b="1">
                <a:solidFill>
                  <a:srgbClr val="EFF5F1"/>
                </a:solidFill>
                <a:latin typeface="Arial"/>
                <a:ea typeface="Arial"/>
                <a:cs typeface="Arial"/>
              </a:defRPr>
            </a:lvl3pPr>
            <a:lvl4pPr>
              <a:defRPr sz="2700" b="1">
                <a:solidFill>
                  <a:srgbClr val="EFF5F1"/>
                </a:solidFill>
                <a:latin typeface="Arial"/>
                <a:ea typeface="Arial"/>
                <a:cs typeface="Arial"/>
              </a:defRPr>
            </a:lvl4pPr>
            <a:lvl5pPr>
              <a:defRPr sz="2700" b="1">
                <a:solidFill>
                  <a:srgbClr val="EFF5F1"/>
                </a:solidFill>
                <a:latin typeface="Arial"/>
                <a:ea typeface="Arial"/>
                <a:cs typeface="Arial"/>
              </a:defRPr>
            </a:lvl5pPr>
            <a:lvl6pPr>
              <a:defRPr sz="2700" b="1">
                <a:solidFill>
                  <a:srgbClr val="EFF5F1"/>
                </a:solidFill>
                <a:latin typeface="Arial"/>
                <a:ea typeface="Arial"/>
                <a:cs typeface="Arial"/>
              </a:defRPr>
            </a:lvl6pPr>
            <a:lvl7pPr>
              <a:defRPr sz="2700" b="1">
                <a:solidFill>
                  <a:srgbClr val="EFF5F1"/>
                </a:solidFill>
                <a:latin typeface="Arial"/>
                <a:ea typeface="Arial"/>
                <a:cs typeface="Arial"/>
              </a:defRPr>
            </a:lvl7pPr>
            <a:lvl8pPr>
              <a:defRPr sz="2700" b="1">
                <a:solidFill>
                  <a:srgbClr val="EFF5F1"/>
                </a:solidFill>
                <a:latin typeface="Arial"/>
                <a:ea typeface="Arial"/>
                <a:cs typeface="Arial"/>
              </a:defRPr>
            </a:lvl8pPr>
            <a:lvl9pPr>
              <a:defRPr sz="2700" b="1">
                <a:solidFill>
                  <a:srgbClr val="EFF5F1"/>
                </a:solidFill>
                <a:latin typeface="Arial"/>
                <a:ea typeface="Arial"/>
                <a:cs typeface="Arial"/>
              </a:defRPr>
            </a:lvl9pPr>
          </a:lstStyle>
          <a:p xmlns:a="http://schemas.openxmlformats.org/drawingml/2006/main">
            <a:pPr>
              <a:defRPr sz="2700" b="1">
                <a:solidFill>
                  <a:srgbClr val="EFF5F1"/>
                </a:solidFill>
                <a:latin typeface="Arial"/>
                <a:ea typeface="Arial"/>
                <a:cs typeface="Arial"/>
              </a:defRPr>
            </a:pPr>
            <a:r>
              <a:rPr sz="2700" b="1">
                <a:solidFill>
                  <a:srgbClr val="EFF5F1"/>
                </a:solidFill>
                <a:latin typeface="Arial"/>
                <a:ea typeface="Arial"/>
                <a:cs typeface="Arial"/>
              </a:rPr>
              <a:t>One experience operator</a:t>
            </a:r>
          </a:p>
          <a:p xmlns:a="http://schemas.openxmlformats.org/drawingml/2006/main">
            <a:pPr>
              <a:defRPr sz="2700" b="1">
                <a:solidFill>
                  <a:srgbClr val="EFF5F1"/>
                </a:solidFill>
                <a:latin typeface="Arial"/>
                <a:ea typeface="Arial"/>
                <a:cs typeface="Arial"/>
              </a:defRPr>
            </a:pPr>
            <a:r>
              <a:rPr sz="2700" b="1">
                <a:solidFill>
                  <a:srgbClr val="EFF5F1"/>
                </a:solidFill>
                <a:latin typeface="Arial"/>
                <a:ea typeface="Arial"/>
                <a:cs typeface="Arial"/>
              </a:rPr>
              <a:t>Three coordinated suppliers</a:t>
            </a:r>
          </a:p>
          <a:p xmlns:a="http://schemas.openxmlformats.org/drawingml/2006/main">
            <a:pPr>
              <a:defRPr sz="2700" b="1">
                <a:solidFill>
                  <a:srgbClr val="EFF5F1"/>
                </a:solidFill>
                <a:latin typeface="Arial"/>
                <a:ea typeface="Arial"/>
                <a:cs typeface="Arial"/>
              </a:defRPr>
            </a:pPr>
            <a:r>
              <a:rPr sz="2700" b="1">
                <a:solidFill>
                  <a:srgbClr val="EFF5F1"/>
                </a:solidFill>
                <a:latin typeface="Arial"/>
                <a:ea typeface="Arial"/>
                <a:cs typeface="Arial"/>
              </a:rPr>
              <a:t>Twenty supervised reservations</a:t>
            </a:r>
          </a:p>
        </p:txBody>
      </p:sp>
      <p:sp>
        <p:nvSpPr>
          <p:cNvPr id="5" name="pricing-label">
            <a:extLst xmlns:a="http://schemas.openxmlformats.org/drawingml/2006/main">
              <a:ext uri="{FF2B5EF4-FFF2-40B4-BE49-F238E27FC236}">
                <a16:creationId xmlns:a16="http://schemas.microsoft.com/office/drawing/2014/main" id="{095D5C04-E1F1-469D-9B40-9D4A53B5ACFA}"/>
              </a:ext>
            </a:extLst>
          </p:cNvPr>
          <p:cNvSpPr>
            <a:spLocks xmlns:a="http://schemas.openxmlformats.org/drawingml/2006/main" noGrp="1"/>
          </p:cNvSpPr>
          <p:nvPr/>
        </p:nvSpPr>
        <p:spPr>
          <a:xfrm xmlns:a="http://schemas.openxmlformats.org/drawingml/2006/main">
            <a:off x="7534275" y="19050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DFBF7E"/>
                </a:solidFill>
                <a:latin typeface="Arial"/>
                <a:ea typeface="Arial"/>
                <a:cs typeface="Arial"/>
              </a:defRPr>
            </a:defPPr>
            <a:lvl1pPr>
              <a:defRPr sz="1725" b="1">
                <a:solidFill>
                  <a:srgbClr val="DFBF7E"/>
                </a:solidFill>
                <a:latin typeface="Arial"/>
                <a:ea typeface="Arial"/>
                <a:cs typeface="Arial"/>
              </a:defRPr>
            </a:lvl1pPr>
            <a:lvl2pPr>
              <a:defRPr sz="1725" b="1">
                <a:solidFill>
                  <a:srgbClr val="DFBF7E"/>
                </a:solidFill>
                <a:latin typeface="Arial"/>
                <a:ea typeface="Arial"/>
                <a:cs typeface="Arial"/>
              </a:defRPr>
            </a:lvl2pPr>
            <a:lvl3pPr>
              <a:defRPr sz="1725" b="1">
                <a:solidFill>
                  <a:srgbClr val="DFBF7E"/>
                </a:solidFill>
                <a:latin typeface="Arial"/>
                <a:ea typeface="Arial"/>
                <a:cs typeface="Arial"/>
              </a:defRPr>
            </a:lvl3pPr>
            <a:lvl4pPr>
              <a:defRPr sz="1725" b="1">
                <a:solidFill>
                  <a:srgbClr val="DFBF7E"/>
                </a:solidFill>
                <a:latin typeface="Arial"/>
                <a:ea typeface="Arial"/>
                <a:cs typeface="Arial"/>
              </a:defRPr>
            </a:lvl4pPr>
            <a:lvl5pPr>
              <a:defRPr sz="1725" b="1">
                <a:solidFill>
                  <a:srgbClr val="DFBF7E"/>
                </a:solidFill>
                <a:latin typeface="Arial"/>
                <a:ea typeface="Arial"/>
                <a:cs typeface="Arial"/>
              </a:defRPr>
            </a:lvl5pPr>
            <a:lvl6pPr>
              <a:defRPr sz="1725" b="1">
                <a:solidFill>
                  <a:srgbClr val="DFBF7E"/>
                </a:solidFill>
                <a:latin typeface="Arial"/>
                <a:ea typeface="Arial"/>
                <a:cs typeface="Arial"/>
              </a:defRPr>
            </a:lvl6pPr>
            <a:lvl7pPr>
              <a:defRPr sz="1725" b="1">
                <a:solidFill>
                  <a:srgbClr val="DFBF7E"/>
                </a:solidFill>
                <a:latin typeface="Arial"/>
                <a:ea typeface="Arial"/>
                <a:cs typeface="Arial"/>
              </a:defRPr>
            </a:lvl7pPr>
            <a:lvl8pPr>
              <a:defRPr sz="1725" b="1">
                <a:solidFill>
                  <a:srgbClr val="DFBF7E"/>
                </a:solidFill>
                <a:latin typeface="Arial"/>
                <a:ea typeface="Arial"/>
                <a:cs typeface="Arial"/>
              </a:defRPr>
            </a:lvl8pPr>
            <a:lvl9pPr>
              <a:defRPr sz="1725" b="1">
                <a:solidFill>
                  <a:srgbClr val="DFBF7E"/>
                </a:solidFill>
                <a:latin typeface="Arial"/>
                <a:ea typeface="Arial"/>
                <a:cs typeface="Arial"/>
              </a:defRPr>
            </a:lvl9pPr>
          </a:lstStyle>
          <a:p xmlns:a="http://schemas.openxmlformats.org/drawingml/2006/main">
            <a:pPr>
              <a:defRPr sz="1725" b="1">
                <a:solidFill>
                  <a:srgbClr val="DFBF7E"/>
                </a:solidFill>
                <a:latin typeface="Arial"/>
                <a:ea typeface="Arial"/>
                <a:cs typeface="Arial"/>
              </a:defRPr>
            </a:pPr>
            <a:r>
              <a:rPr sz="1725" b="1">
                <a:solidFill>
                  <a:srgbClr val="DFBF7E"/>
                </a:solidFill>
                <a:latin typeface="Arial"/>
                <a:ea typeface="Arial"/>
                <a:cs typeface="Arial"/>
              </a:rPr>
              <a:t>PRICING HYPOTHESIS</a:t>
            </a:r>
          </a:p>
        </p:txBody>
      </p:sp>
      <p:sp>
        <p:nvSpPr>
          <p:cNvPr id="6" name="pricing">
            <a:extLst xmlns:a="http://schemas.openxmlformats.org/drawingml/2006/main">
              <a:ext uri="{FF2B5EF4-FFF2-40B4-BE49-F238E27FC236}">
                <a16:creationId xmlns:a16="http://schemas.microsoft.com/office/drawing/2014/main" id="{F209C621-0B38-4F4F-A51C-52927A6D8079}"/>
              </a:ext>
            </a:extLst>
          </p:cNvPr>
          <p:cNvSpPr>
            <a:spLocks xmlns:a="http://schemas.openxmlformats.org/drawingml/2006/main" noGrp="1"/>
          </p:cNvSpPr>
          <p:nvPr/>
        </p:nvSpPr>
        <p:spPr>
          <a:xfrm xmlns:a="http://schemas.openxmlformats.org/drawingml/2006/main">
            <a:off x="7534275" y="2476500"/>
            <a:ext cx="40481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EFF5F1"/>
                </a:solidFill>
                <a:latin typeface="Arial"/>
                <a:ea typeface="Arial"/>
                <a:cs typeface="Arial"/>
              </a:defRPr>
            </a:defPPr>
            <a:lvl1pPr>
              <a:defRPr sz="3450" b="1">
                <a:solidFill>
                  <a:srgbClr val="EFF5F1"/>
                </a:solidFill>
                <a:latin typeface="Arial"/>
                <a:ea typeface="Arial"/>
                <a:cs typeface="Arial"/>
              </a:defRPr>
            </a:lvl1pPr>
            <a:lvl2pPr>
              <a:defRPr sz="3450" b="1">
                <a:solidFill>
                  <a:srgbClr val="EFF5F1"/>
                </a:solidFill>
                <a:latin typeface="Arial"/>
                <a:ea typeface="Arial"/>
                <a:cs typeface="Arial"/>
              </a:defRPr>
            </a:lvl2pPr>
            <a:lvl3pPr>
              <a:defRPr sz="3450" b="1">
                <a:solidFill>
                  <a:srgbClr val="EFF5F1"/>
                </a:solidFill>
                <a:latin typeface="Arial"/>
                <a:ea typeface="Arial"/>
                <a:cs typeface="Arial"/>
              </a:defRPr>
            </a:lvl3pPr>
            <a:lvl4pPr>
              <a:defRPr sz="3450" b="1">
                <a:solidFill>
                  <a:srgbClr val="EFF5F1"/>
                </a:solidFill>
                <a:latin typeface="Arial"/>
                <a:ea typeface="Arial"/>
                <a:cs typeface="Arial"/>
              </a:defRPr>
            </a:lvl4pPr>
            <a:lvl5pPr>
              <a:defRPr sz="3450" b="1">
                <a:solidFill>
                  <a:srgbClr val="EFF5F1"/>
                </a:solidFill>
                <a:latin typeface="Arial"/>
                <a:ea typeface="Arial"/>
                <a:cs typeface="Arial"/>
              </a:defRPr>
            </a:lvl5pPr>
            <a:lvl6pPr>
              <a:defRPr sz="3450" b="1">
                <a:solidFill>
                  <a:srgbClr val="EFF5F1"/>
                </a:solidFill>
                <a:latin typeface="Arial"/>
                <a:ea typeface="Arial"/>
                <a:cs typeface="Arial"/>
              </a:defRPr>
            </a:lvl6pPr>
            <a:lvl7pPr>
              <a:defRPr sz="3450" b="1">
                <a:solidFill>
                  <a:srgbClr val="EFF5F1"/>
                </a:solidFill>
                <a:latin typeface="Arial"/>
                <a:ea typeface="Arial"/>
                <a:cs typeface="Arial"/>
              </a:defRPr>
            </a:lvl7pPr>
            <a:lvl8pPr>
              <a:defRPr sz="3450" b="1">
                <a:solidFill>
                  <a:srgbClr val="EFF5F1"/>
                </a:solidFill>
                <a:latin typeface="Arial"/>
                <a:ea typeface="Arial"/>
                <a:cs typeface="Arial"/>
              </a:defRPr>
            </a:lvl8pPr>
            <a:lvl9pPr>
              <a:defRPr sz="3450" b="1">
                <a:solidFill>
                  <a:srgbClr val="EFF5F1"/>
                </a:solidFill>
                <a:latin typeface="Arial"/>
                <a:ea typeface="Arial"/>
                <a:cs typeface="Arial"/>
              </a:defRPr>
            </a:lvl9pPr>
          </a:lstStyle>
          <a:p xmlns:a="http://schemas.openxmlformats.org/drawingml/2006/main">
            <a:pPr>
              <a:defRPr sz="3450" b="1">
                <a:solidFill>
                  <a:srgbClr val="EFF5F1"/>
                </a:solidFill>
                <a:latin typeface="Arial"/>
                <a:ea typeface="Arial"/>
                <a:cs typeface="Arial"/>
              </a:defRPr>
            </a:pPr>
            <a:r>
              <a:rPr sz="3450" b="1">
                <a:solidFill>
                  <a:srgbClr val="EFF5F1"/>
                </a:solidFill>
                <a:latin typeface="Arial"/>
                <a:ea typeface="Arial"/>
                <a:cs typeface="Arial"/>
              </a:rPr>
              <a:t>€149 / month</a:t>
            </a:r>
          </a:p>
        </p:txBody>
      </p:sp>
      <p:sp>
        <p:nvSpPr>
          <p:cNvPr id="7" name="variable">
            <a:extLst xmlns:a="http://schemas.openxmlformats.org/drawingml/2006/main">
              <a:ext uri="{FF2B5EF4-FFF2-40B4-BE49-F238E27FC236}">
                <a16:creationId xmlns:a16="http://schemas.microsoft.com/office/drawing/2014/main" id="{DD26C004-EB94-4DF5-BF53-3584D4165A38}"/>
              </a:ext>
            </a:extLst>
          </p:cNvPr>
          <p:cNvSpPr>
            <a:spLocks xmlns:a="http://schemas.openxmlformats.org/drawingml/2006/main" noGrp="1"/>
          </p:cNvSpPr>
          <p:nvPr/>
        </p:nvSpPr>
        <p:spPr>
          <a:xfrm xmlns:a="http://schemas.openxmlformats.org/drawingml/2006/main">
            <a:off x="7534275" y="3400425"/>
            <a:ext cx="4048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A6BAC1"/>
                </a:solidFill>
                <a:latin typeface="Arial"/>
                <a:ea typeface="Arial"/>
                <a:cs typeface="Arial"/>
              </a:defRPr>
            </a:defPPr>
            <a:lvl1pPr>
              <a:defRPr sz="2250" b="0">
                <a:solidFill>
                  <a:srgbClr val="A6BAC1"/>
                </a:solidFill>
                <a:latin typeface="Arial"/>
                <a:ea typeface="Arial"/>
                <a:cs typeface="Arial"/>
              </a:defRPr>
            </a:lvl1pPr>
            <a:lvl2pPr>
              <a:defRPr sz="2250" b="0">
                <a:solidFill>
                  <a:srgbClr val="A6BAC1"/>
                </a:solidFill>
                <a:latin typeface="Arial"/>
                <a:ea typeface="Arial"/>
                <a:cs typeface="Arial"/>
              </a:defRPr>
            </a:lvl2pPr>
            <a:lvl3pPr>
              <a:defRPr sz="2250" b="0">
                <a:solidFill>
                  <a:srgbClr val="A6BAC1"/>
                </a:solidFill>
                <a:latin typeface="Arial"/>
                <a:ea typeface="Arial"/>
                <a:cs typeface="Arial"/>
              </a:defRPr>
            </a:lvl3pPr>
            <a:lvl4pPr>
              <a:defRPr sz="2250" b="0">
                <a:solidFill>
                  <a:srgbClr val="A6BAC1"/>
                </a:solidFill>
                <a:latin typeface="Arial"/>
                <a:ea typeface="Arial"/>
                <a:cs typeface="Arial"/>
              </a:defRPr>
            </a:lvl4pPr>
            <a:lvl5pPr>
              <a:defRPr sz="2250" b="0">
                <a:solidFill>
                  <a:srgbClr val="A6BAC1"/>
                </a:solidFill>
                <a:latin typeface="Arial"/>
                <a:ea typeface="Arial"/>
                <a:cs typeface="Arial"/>
              </a:defRPr>
            </a:lvl5pPr>
            <a:lvl6pPr>
              <a:defRPr sz="2250" b="0">
                <a:solidFill>
                  <a:srgbClr val="A6BAC1"/>
                </a:solidFill>
                <a:latin typeface="Arial"/>
                <a:ea typeface="Arial"/>
                <a:cs typeface="Arial"/>
              </a:defRPr>
            </a:lvl6pPr>
            <a:lvl7pPr>
              <a:defRPr sz="2250" b="0">
                <a:solidFill>
                  <a:srgbClr val="A6BAC1"/>
                </a:solidFill>
                <a:latin typeface="Arial"/>
                <a:ea typeface="Arial"/>
                <a:cs typeface="Arial"/>
              </a:defRPr>
            </a:lvl7pPr>
            <a:lvl8pPr>
              <a:defRPr sz="2250" b="0">
                <a:solidFill>
                  <a:srgbClr val="A6BAC1"/>
                </a:solidFill>
                <a:latin typeface="Arial"/>
                <a:ea typeface="Arial"/>
                <a:cs typeface="Arial"/>
              </a:defRPr>
            </a:lvl8pPr>
            <a:lvl9pPr>
              <a:defRPr sz="2250" b="0">
                <a:solidFill>
                  <a:srgbClr val="A6BAC1"/>
                </a:solidFill>
                <a:latin typeface="Arial"/>
                <a:ea typeface="Arial"/>
                <a:cs typeface="Arial"/>
              </a:defRPr>
            </a:lvl9pPr>
          </a:lstStyle>
          <a:p xmlns:a="http://schemas.openxmlformats.org/drawingml/2006/main">
            <a:pPr>
              <a:defRPr sz="2250" b="0">
                <a:solidFill>
                  <a:srgbClr val="A6BAC1"/>
                </a:solidFill>
                <a:latin typeface="Arial"/>
                <a:ea typeface="Arial"/>
                <a:cs typeface="Arial"/>
              </a:defRPr>
            </a:pPr>
            <a:r>
              <a:rPr sz="2250" b="0">
                <a:solidFill>
                  <a:srgbClr val="A6BAC1"/>
                </a:solidFill>
                <a:latin typeface="Arial"/>
                <a:ea typeface="Arial"/>
                <a:cs typeface="Arial"/>
              </a:rPr>
              <a:t>+ 1% of a settled reservation</a:t>
            </a:r>
          </a:p>
        </p:txBody>
      </p:sp>
      <p:sp>
        <p:nvSpPr>
          <p:cNvPr id="8" name="measure">
            <a:extLst xmlns:a="http://schemas.openxmlformats.org/drawingml/2006/main">
              <a:ext uri="{FF2B5EF4-FFF2-40B4-BE49-F238E27FC236}">
                <a16:creationId xmlns:a16="http://schemas.microsoft.com/office/drawing/2014/main" id="{CEF59F53-D493-4AB8-9B89-B37E32047E00}"/>
              </a:ext>
            </a:extLst>
          </p:cNvPr>
          <p:cNvSpPr>
            <a:spLocks xmlns:a="http://schemas.openxmlformats.org/drawingml/2006/main" noGrp="1"/>
          </p:cNvSpPr>
          <p:nvPr/>
        </p:nvSpPr>
        <p:spPr>
          <a:xfrm xmlns:a="http://schemas.openxmlformats.org/drawingml/2006/main">
            <a:off x="609600" y="4724400"/>
            <a:ext cx="109347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EFF5F1"/>
                </a:solidFill>
                <a:latin typeface="Arial"/>
                <a:ea typeface="Arial"/>
                <a:cs typeface="Arial"/>
              </a:defRPr>
            </a:defPPr>
            <a:lvl1pPr>
              <a:defRPr sz="2400" b="0">
                <a:solidFill>
                  <a:srgbClr val="EFF5F1"/>
                </a:solidFill>
                <a:latin typeface="Arial"/>
                <a:ea typeface="Arial"/>
                <a:cs typeface="Arial"/>
              </a:defRPr>
            </a:lvl1pPr>
            <a:lvl2pPr>
              <a:defRPr sz="2400" b="0">
                <a:solidFill>
                  <a:srgbClr val="EFF5F1"/>
                </a:solidFill>
                <a:latin typeface="Arial"/>
                <a:ea typeface="Arial"/>
                <a:cs typeface="Arial"/>
              </a:defRPr>
            </a:lvl2pPr>
            <a:lvl3pPr>
              <a:defRPr sz="2400" b="0">
                <a:solidFill>
                  <a:srgbClr val="EFF5F1"/>
                </a:solidFill>
                <a:latin typeface="Arial"/>
                <a:ea typeface="Arial"/>
                <a:cs typeface="Arial"/>
              </a:defRPr>
            </a:lvl3pPr>
            <a:lvl4pPr>
              <a:defRPr sz="2400" b="0">
                <a:solidFill>
                  <a:srgbClr val="EFF5F1"/>
                </a:solidFill>
                <a:latin typeface="Arial"/>
                <a:ea typeface="Arial"/>
                <a:cs typeface="Arial"/>
              </a:defRPr>
            </a:lvl4pPr>
            <a:lvl5pPr>
              <a:defRPr sz="2400" b="0">
                <a:solidFill>
                  <a:srgbClr val="EFF5F1"/>
                </a:solidFill>
                <a:latin typeface="Arial"/>
                <a:ea typeface="Arial"/>
                <a:cs typeface="Arial"/>
              </a:defRPr>
            </a:lvl5pPr>
            <a:lvl6pPr>
              <a:defRPr sz="2400" b="0">
                <a:solidFill>
                  <a:srgbClr val="EFF5F1"/>
                </a:solidFill>
                <a:latin typeface="Arial"/>
                <a:ea typeface="Arial"/>
                <a:cs typeface="Arial"/>
              </a:defRPr>
            </a:lvl6pPr>
            <a:lvl7pPr>
              <a:defRPr sz="2400" b="0">
                <a:solidFill>
                  <a:srgbClr val="EFF5F1"/>
                </a:solidFill>
                <a:latin typeface="Arial"/>
                <a:ea typeface="Arial"/>
                <a:cs typeface="Arial"/>
              </a:defRPr>
            </a:lvl7pPr>
            <a:lvl8pPr>
              <a:defRPr sz="2400" b="0">
                <a:solidFill>
                  <a:srgbClr val="EFF5F1"/>
                </a:solidFill>
                <a:latin typeface="Arial"/>
                <a:ea typeface="Arial"/>
                <a:cs typeface="Arial"/>
              </a:defRPr>
            </a:lvl8pPr>
            <a:lvl9pPr>
              <a:defRPr sz="2400" b="0">
                <a:solidFill>
                  <a:srgbClr val="EFF5F1"/>
                </a:solidFill>
                <a:latin typeface="Arial"/>
                <a:ea typeface="Arial"/>
                <a:cs typeface="Arial"/>
              </a:defRPr>
            </a:lvl9pPr>
          </a:lstStyle>
          <a:p xmlns:a="http://schemas.openxmlformats.org/drawingml/2006/main">
            <a:pPr>
              <a:defRPr sz="2400" b="0">
                <a:solidFill>
                  <a:srgbClr val="EFF5F1"/>
                </a:solidFill>
                <a:latin typeface="Arial"/>
                <a:ea typeface="Arial"/>
                <a:cs typeface="Arial"/>
              </a:defRPr>
            </a:pPr>
            <a:r>
              <a:rPr sz="2400" b="0">
                <a:solidFill>
                  <a:srgbClr val="EFF5F1"/>
                </a:solidFill>
                <a:latin typeface="Arial"/>
                <a:ea typeface="Arial"/>
                <a:cs typeface="Arial"/>
              </a:rPr>
              <a:t>Pilot measures: willingness to pay, coordination time</a:t>
            </a:r>
          </a:p>
          <a:p xmlns:a="http://schemas.openxmlformats.org/drawingml/2006/main">
            <a:pPr>
              <a:defRPr sz="2400" b="0">
                <a:solidFill>
                  <a:srgbClr val="EFF5F1"/>
                </a:solidFill>
                <a:latin typeface="Arial"/>
                <a:ea typeface="Arial"/>
                <a:cs typeface="Arial"/>
              </a:defRPr>
            </a:pPr>
            <a:r>
              <a:rPr sz="2400" b="0">
                <a:solidFill>
                  <a:srgbClr val="EFF5F1"/>
                </a:solidFill>
                <a:latin typeface="Arial"/>
                <a:ea typeface="Arial"/>
                <a:cs typeface="Arial"/>
              </a:rPr>
              <a:t>and payment disputes per reservation.</a:t>
            </a:r>
          </a:p>
        </p:txBody>
      </p:sp>
      <p:sp>
        <p:nvSpPr>
          <p:cNvPr id="9" name="disclosure">
            <a:extLst xmlns:a="http://schemas.openxmlformats.org/drawingml/2006/main">
              <a:ext uri="{FF2B5EF4-FFF2-40B4-BE49-F238E27FC236}">
                <a16:creationId xmlns:a16="http://schemas.microsoft.com/office/drawing/2014/main" id="{CCBAD290-D3C7-4AE3-A03B-D9B3F6D1FC1F}"/>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DFBF7E"/>
                </a:solidFill>
                <a:latin typeface="Arial"/>
                <a:ea typeface="Arial"/>
                <a:cs typeface="Arial"/>
              </a:defRPr>
            </a:defPPr>
            <a:lvl1pPr>
              <a:defRPr sz="1425" b="0">
                <a:solidFill>
                  <a:srgbClr val="DFBF7E"/>
                </a:solidFill>
                <a:latin typeface="Arial"/>
                <a:ea typeface="Arial"/>
                <a:cs typeface="Arial"/>
              </a:defRPr>
            </a:lvl1pPr>
            <a:lvl2pPr>
              <a:defRPr sz="1425" b="0">
                <a:solidFill>
                  <a:srgbClr val="DFBF7E"/>
                </a:solidFill>
                <a:latin typeface="Arial"/>
                <a:ea typeface="Arial"/>
                <a:cs typeface="Arial"/>
              </a:defRPr>
            </a:lvl2pPr>
            <a:lvl3pPr>
              <a:defRPr sz="1425" b="0">
                <a:solidFill>
                  <a:srgbClr val="DFBF7E"/>
                </a:solidFill>
                <a:latin typeface="Arial"/>
                <a:ea typeface="Arial"/>
                <a:cs typeface="Arial"/>
              </a:defRPr>
            </a:lvl3pPr>
            <a:lvl4pPr>
              <a:defRPr sz="1425" b="0">
                <a:solidFill>
                  <a:srgbClr val="DFBF7E"/>
                </a:solidFill>
                <a:latin typeface="Arial"/>
                <a:ea typeface="Arial"/>
                <a:cs typeface="Arial"/>
              </a:defRPr>
            </a:lvl4pPr>
            <a:lvl5pPr>
              <a:defRPr sz="1425" b="0">
                <a:solidFill>
                  <a:srgbClr val="DFBF7E"/>
                </a:solidFill>
                <a:latin typeface="Arial"/>
                <a:ea typeface="Arial"/>
                <a:cs typeface="Arial"/>
              </a:defRPr>
            </a:lvl5pPr>
            <a:lvl6pPr>
              <a:defRPr sz="1425" b="0">
                <a:solidFill>
                  <a:srgbClr val="DFBF7E"/>
                </a:solidFill>
                <a:latin typeface="Arial"/>
                <a:ea typeface="Arial"/>
                <a:cs typeface="Arial"/>
              </a:defRPr>
            </a:lvl6pPr>
            <a:lvl7pPr>
              <a:defRPr sz="1425" b="0">
                <a:solidFill>
                  <a:srgbClr val="DFBF7E"/>
                </a:solidFill>
                <a:latin typeface="Arial"/>
                <a:ea typeface="Arial"/>
                <a:cs typeface="Arial"/>
              </a:defRPr>
            </a:lvl7pPr>
            <a:lvl8pPr>
              <a:defRPr sz="1425" b="0">
                <a:solidFill>
                  <a:srgbClr val="DFBF7E"/>
                </a:solidFill>
                <a:latin typeface="Arial"/>
                <a:ea typeface="Arial"/>
                <a:cs typeface="Arial"/>
              </a:defRPr>
            </a:lvl8pPr>
            <a:lvl9pPr>
              <a:defRPr sz="1425" b="0">
                <a:solidFill>
                  <a:srgbClr val="DFBF7E"/>
                </a:solidFill>
                <a:latin typeface="Arial"/>
                <a:ea typeface="Arial"/>
                <a:cs typeface="Arial"/>
              </a:defRPr>
            </a:lvl9pPr>
          </a:lstStyle>
          <a:p xmlns:a="http://schemas.openxmlformats.org/drawingml/2006/main">
            <a:pPr>
              <a:defRPr sz="1425" b="0">
                <a:solidFill>
                  <a:srgbClr val="DFBF7E"/>
                </a:solidFill>
                <a:latin typeface="Arial"/>
                <a:ea typeface="Arial"/>
                <a:cs typeface="Arial"/>
              </a:defRPr>
            </a:pPr>
            <a:r>
              <a:rPr sz="1425" b="0">
                <a:solidFill>
                  <a:srgbClr val="DFBF7E"/>
                </a:solidFill>
                <a:latin typeface="Arial"/>
                <a:ea typeface="Arial"/>
                <a:cs typeface="Arial"/>
              </a:rPr>
              <a:t>Proposed assumptions. No paying customers, live reservations or revenue established.</a:t>
            </a:r>
          </a:p>
        </p:txBody>
      </p:sp>
    </p:spTree>
    <p:extLst>
      <p:ext uri="{BB962C8B-B14F-4D97-AF65-F5344CB8AC3E}">
        <p14:creationId xmlns:p14="http://schemas.microsoft.com/office/powerpoint/2010/main" val="1193706293"/>
      </p:ext>
    </p:extLst>
  </p:cSld>
</p:sld>
</file>

<file path=ppt/slides/slide10.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30D4648-397C-4DE0-A382-6D807FB1699E}"/>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defRPr sz="3600" b="1">
                <a:solidFill>
                  <a:srgbClr val="EFF5F1"/>
                </a:solidFill>
                <a:latin typeface="Arial"/>
                <a:ea typeface="Arial"/>
                <a:cs typeface="Arial"/>
              </a:defRPr>
            </a:lvl1pPr>
            <a:lvl2pPr>
              <a:defRPr sz="3600" b="1">
                <a:solidFill>
                  <a:srgbClr val="EFF5F1"/>
                </a:solidFill>
                <a:latin typeface="Arial"/>
                <a:ea typeface="Arial"/>
                <a:cs typeface="Arial"/>
              </a:defRPr>
            </a:lvl2pPr>
            <a:lvl3pPr>
              <a:defRPr sz="3600" b="1">
                <a:solidFill>
                  <a:srgbClr val="EFF5F1"/>
                </a:solidFill>
                <a:latin typeface="Arial"/>
                <a:ea typeface="Arial"/>
                <a:cs typeface="Arial"/>
              </a:defRPr>
            </a:lvl3pPr>
            <a:lvl4pPr>
              <a:defRPr sz="3600" b="1">
                <a:solidFill>
                  <a:srgbClr val="EFF5F1"/>
                </a:solidFill>
                <a:latin typeface="Arial"/>
                <a:ea typeface="Arial"/>
                <a:cs typeface="Arial"/>
              </a:defRPr>
            </a:lvl4pPr>
            <a:lvl5pPr>
              <a:defRPr sz="3600" b="1">
                <a:solidFill>
                  <a:srgbClr val="EFF5F1"/>
                </a:solidFill>
                <a:latin typeface="Arial"/>
                <a:ea typeface="Arial"/>
                <a:cs typeface="Arial"/>
              </a:defRPr>
            </a:lvl5pPr>
            <a:lvl6pPr>
              <a:defRPr sz="3600" b="1">
                <a:solidFill>
                  <a:srgbClr val="EFF5F1"/>
                </a:solidFill>
                <a:latin typeface="Arial"/>
                <a:ea typeface="Arial"/>
                <a:cs typeface="Arial"/>
              </a:defRPr>
            </a:lvl6pPr>
            <a:lvl7pPr>
              <a:defRPr sz="3600" b="1">
                <a:solidFill>
                  <a:srgbClr val="EFF5F1"/>
                </a:solidFill>
                <a:latin typeface="Arial"/>
                <a:ea typeface="Arial"/>
                <a:cs typeface="Arial"/>
              </a:defRPr>
            </a:lvl7pPr>
            <a:lvl8pPr>
              <a:defRPr sz="3600" b="1">
                <a:solidFill>
                  <a:srgbClr val="EFF5F1"/>
                </a:solidFill>
                <a:latin typeface="Arial"/>
                <a:ea typeface="Arial"/>
                <a:cs typeface="Arial"/>
              </a:defRPr>
            </a:lvl8pPr>
            <a:lvl9pPr>
              <a:defRPr sz="3600" b="1">
                <a:solidFill>
                  <a:srgbClr val="EFF5F1"/>
                </a:solidFill>
                <a:latin typeface="Arial"/>
                <a:ea typeface="Arial"/>
                <a:cs typeface="Arial"/>
              </a:defRPr>
            </a:lvl9pPr>
          </a:lstStyle>
          <a:p xmlns:a="http://schemas.openxmlformats.org/drawingml/2006/main">
            <a:pPr>
              <a:defRPr sz="3600" b="1">
                <a:solidFill>
                  <a:srgbClr val="EFF5F1"/>
                </a:solidFill>
                <a:latin typeface="Arial"/>
                <a:ea typeface="Arial"/>
                <a:cs typeface="Arial"/>
              </a:defRPr>
            </a:pPr>
            <a:r>
              <a:rPr sz="3600" b="1">
                <a:solidFill>
                  <a:srgbClr val="EFF5F1"/>
                </a:solidFill>
                <a:latin typeface="Arial"/>
                <a:ea typeface="Arial"/>
                <a:cs typeface="Arial"/>
              </a:rPr>
              <a:t>A global platform through verified stages</a:t>
            </a:r>
          </a:p>
        </p:txBody>
      </p:sp>
      <p:sp>
        <p:nvSpPr>
          <p:cNvPr id="2" name="page">
            <a:extLst xmlns:a="http://schemas.openxmlformats.org/drawingml/2006/main">
              <a:ext uri="{FF2B5EF4-FFF2-40B4-BE49-F238E27FC236}">
                <a16:creationId xmlns:a16="http://schemas.microsoft.com/office/drawing/2014/main" id="{CCD70889-1333-4094-8B99-057859841021}"/>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defRPr sz="1200" b="0">
                <a:solidFill>
                  <a:srgbClr val="A6BAC1"/>
                </a:solidFill>
                <a:latin typeface="Arial"/>
                <a:ea typeface="Arial"/>
                <a:cs typeface="Arial"/>
              </a:defRPr>
            </a:lvl1pPr>
            <a:lvl2pPr>
              <a:defRPr sz="1200" b="0">
                <a:solidFill>
                  <a:srgbClr val="A6BAC1"/>
                </a:solidFill>
                <a:latin typeface="Arial"/>
                <a:ea typeface="Arial"/>
                <a:cs typeface="Arial"/>
              </a:defRPr>
            </a:lvl2pPr>
            <a:lvl3pPr>
              <a:defRPr sz="1200" b="0">
                <a:solidFill>
                  <a:srgbClr val="A6BAC1"/>
                </a:solidFill>
                <a:latin typeface="Arial"/>
                <a:ea typeface="Arial"/>
                <a:cs typeface="Arial"/>
              </a:defRPr>
            </a:lvl3pPr>
            <a:lvl4pPr>
              <a:defRPr sz="1200" b="0">
                <a:solidFill>
                  <a:srgbClr val="A6BAC1"/>
                </a:solidFill>
                <a:latin typeface="Arial"/>
                <a:ea typeface="Arial"/>
                <a:cs typeface="Arial"/>
              </a:defRPr>
            </a:lvl4pPr>
            <a:lvl5pPr>
              <a:defRPr sz="1200" b="0">
                <a:solidFill>
                  <a:srgbClr val="A6BAC1"/>
                </a:solidFill>
                <a:latin typeface="Arial"/>
                <a:ea typeface="Arial"/>
                <a:cs typeface="Arial"/>
              </a:defRPr>
            </a:lvl5pPr>
            <a:lvl6pPr>
              <a:defRPr sz="1200" b="0">
                <a:solidFill>
                  <a:srgbClr val="A6BAC1"/>
                </a:solidFill>
                <a:latin typeface="Arial"/>
                <a:ea typeface="Arial"/>
                <a:cs typeface="Arial"/>
              </a:defRPr>
            </a:lvl6pPr>
            <a:lvl7pPr>
              <a:defRPr sz="1200" b="0">
                <a:solidFill>
                  <a:srgbClr val="A6BAC1"/>
                </a:solidFill>
                <a:latin typeface="Arial"/>
                <a:ea typeface="Arial"/>
                <a:cs typeface="Arial"/>
              </a:defRPr>
            </a:lvl7pPr>
            <a:lvl8pPr>
              <a:defRPr sz="1200" b="0">
                <a:solidFill>
                  <a:srgbClr val="A6BAC1"/>
                </a:solidFill>
                <a:latin typeface="Arial"/>
                <a:ea typeface="Arial"/>
                <a:cs typeface="Arial"/>
              </a:defRPr>
            </a:lvl8pPr>
            <a:lvl9pPr>
              <a:defRPr sz="1200" b="0">
                <a:solidFill>
                  <a:srgbClr val="A6BAC1"/>
                </a:solidFill>
                <a:latin typeface="Arial"/>
                <a:ea typeface="Arial"/>
                <a:cs typeface="Arial"/>
              </a:defRPr>
            </a:lvl9pPr>
          </a:lstStyle>
          <a:p xmlns:a="http://schemas.openxmlformats.org/drawingml/2006/main">
            <a:pPr>
              <a:defRPr sz="1200" b="0">
                <a:solidFill>
                  <a:srgbClr val="A6BAC1"/>
                </a:solidFill>
                <a:latin typeface="Arial"/>
                <a:ea typeface="Arial"/>
                <a:cs typeface="Arial"/>
              </a:defRPr>
            </a:pPr>
            <a:r>
              <a:rPr sz="1200" b="0">
                <a:solidFill>
                  <a:srgbClr val="A6BAC1"/>
                </a:solidFill>
                <a:latin typeface="Arial"/>
                <a:ea typeface="Arial"/>
                <a:cs typeface="Arial"/>
              </a:rPr>
              <a:t>10 / 10</a:t>
            </a:r>
          </a:p>
        </p:txBody>
      </p:sp>
      <p:graphicFrame>
        <p:nvGraphicFramePr>
          <p:cNvPr id="3" name="">
            <a:extLst xmlns:a="http://schemas.openxmlformats.org/drawingml/2006/main">
              <a:ext uri="{FF2B5EF4-FFF2-40B4-BE49-F238E27FC236}">
                <a16:creationId xmlns:a16="http://schemas.microsoft.com/office/drawing/2014/main" id="{6FE06DF1-E2CE-49BF-B69C-431A781C3DA5}"/>
              </a:ext>
            </a:extLst>
          </p:cNvPr>
          <p:cNvGraphicFramePr/>
          <p:nvPr/>
        </p:nvGraphicFramePr>
        <p:xfrm>
          <a:off xmlns:a="http://schemas.openxmlformats.org/drawingml/2006/main" x="609600" y="1800225"/>
          <a:ext xmlns:a="http://schemas.openxmlformats.org/drawingml/2006/main" cx="10972800" cy="3286125"/>
        </p:xfrm>
        <a:graphic xmlns:a="http://schemas.openxmlformats.org/drawingml/2006/main">
          <a:graphicData uri="http://schemas.openxmlformats.org/drawingml/2006/table">
            <a:tbl>
              <a:tblPr firstRow="1" bandRow="0"/>
              <a:tblGrid>
                <a:gridCol w="3524250"/>
                <a:gridCol w="7448550"/>
              </a:tblGrid>
              <a:tr h="547688">
                <a:tc>
                  <a:txBody>
                    <a:bodyPr/>
                    <a:lstStyle/>
                    <a:p>
                      <a:r>
                        <a:rPr sz="1875" b="1">
                          <a:solidFill>
                            <a:srgbClr val="A4E3C3"/>
                          </a:solidFill>
                          <a:latin typeface="Arial"/>
                          <a:ea typeface="Arial"/>
                          <a:cs typeface="Arial"/>
                        </a:rPr>
                        <a:t>Stage</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75" b="1">
                          <a:solidFill>
                            <a:srgbClr val="A4E3C3"/>
                          </a:solidFill>
                          <a:latin typeface="Arial"/>
                          <a:ea typeface="Arial"/>
                          <a:cs typeface="Arial"/>
                        </a:rPr>
                        <a:t>Evidence required to advance</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47688">
                <a:tc>
                  <a:txBody>
                    <a:bodyPr/>
                    <a:lstStyle/>
                    <a:p>
                      <a:r>
                        <a:rPr sz="1875">
                          <a:solidFill>
                            <a:srgbClr val="EFF5F1"/>
                          </a:solidFill>
                          <a:latin typeface="Arial"/>
                          <a:ea typeface="Arial"/>
                          <a:cs typeface="Arial"/>
                        </a:rPr>
                        <a:t>Verified prototype</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Working public demo and private AI / Sandbox outcomes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47688">
                <a:tc>
                  <a:txBody>
                    <a:bodyPr/>
                    <a:lstStyle/>
                    <a:p>
                      <a:r>
                        <a:rPr sz="1875">
                          <a:solidFill>
                            <a:srgbClr val="EFF5F1"/>
                          </a:solidFill>
                          <a:latin typeface="Arial"/>
                          <a:ea typeface="Arial"/>
                          <a:cs typeface="Arial"/>
                        </a:rPr>
                        <a:t>La Palma pilot</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Actual operator, permitted site and complete local evidence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47688">
                <a:tc>
                  <a:txBody>
                    <a:bodyPr/>
                    <a:lstStyle/>
                    <a:p>
                      <a:r>
                        <a:rPr sz="1875">
                          <a:solidFill>
                            <a:srgbClr val="EFF5F1"/>
                          </a:solidFill>
                          <a:latin typeface="Arial"/>
                          <a:ea typeface="Arial"/>
                          <a:cs typeface="Arial"/>
                        </a:rPr>
                        <a:t>Commercial operation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Verified identities, durable storage and provider approvals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47688">
                <a:tc>
                  <a:txBody>
                    <a:bodyPr/>
                    <a:lstStyle/>
                    <a:p>
                      <a:r>
                        <a:rPr sz="1875">
                          <a:solidFill>
                            <a:srgbClr val="EFF5F1"/>
                          </a:solidFill>
                          <a:latin typeface="Arial"/>
                          <a:ea typeface="Arial"/>
                          <a:cs typeface="Arial"/>
                        </a:rPr>
                        <a:t>B2C expansion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Coordinated travel and events with fulfillment conditions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47688">
                <a:tc>
                  <a:txBody>
                    <a:bodyPr/>
                    <a:lstStyle/>
                    <a:p>
                      <a:r>
                        <a:rPr sz="1875">
                          <a:solidFill>
                            <a:srgbClr val="EFF5F1"/>
                          </a:solidFill>
                          <a:latin typeface="Arial"/>
                          <a:ea typeface="Arial"/>
                          <a:cs typeface="Arial"/>
                        </a:rPr>
                        <a:t>B2B expansion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Supplier milestones with independently verifiable evidence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4" name="close">
            <a:extLst xmlns:a="http://schemas.openxmlformats.org/drawingml/2006/main">
              <a:ext uri="{FF2B5EF4-FFF2-40B4-BE49-F238E27FC236}">
                <a16:creationId xmlns:a16="http://schemas.microsoft.com/office/drawing/2014/main" id="{FD701E0E-03B1-4F63-8FDC-80DF12DB3CB3}"/>
              </a:ext>
            </a:extLst>
          </p:cNvPr>
          <p:cNvSpPr>
            <a:spLocks xmlns:a="http://schemas.openxmlformats.org/drawingml/2006/main" noGrp="1"/>
          </p:cNvSpPr>
          <p:nvPr/>
        </p:nvSpPr>
        <p:spPr>
          <a:xfrm xmlns:a="http://schemas.openxmlformats.org/drawingml/2006/main">
            <a:off x="609600" y="5438775"/>
            <a:ext cx="10906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A4E3C3"/>
                </a:solidFill>
                <a:latin typeface="Arial"/>
                <a:ea typeface="Arial"/>
                <a:cs typeface="Arial"/>
              </a:defRPr>
            </a:defPPr>
            <a:lvl1pPr>
              <a:defRPr sz="2550" b="1">
                <a:solidFill>
                  <a:srgbClr val="A4E3C3"/>
                </a:solidFill>
                <a:latin typeface="Arial"/>
                <a:ea typeface="Arial"/>
                <a:cs typeface="Arial"/>
              </a:defRPr>
            </a:lvl1pPr>
            <a:lvl2pPr>
              <a:defRPr sz="2550" b="1">
                <a:solidFill>
                  <a:srgbClr val="A4E3C3"/>
                </a:solidFill>
                <a:latin typeface="Arial"/>
                <a:ea typeface="Arial"/>
                <a:cs typeface="Arial"/>
              </a:defRPr>
            </a:lvl2pPr>
            <a:lvl3pPr>
              <a:defRPr sz="2550" b="1">
                <a:solidFill>
                  <a:srgbClr val="A4E3C3"/>
                </a:solidFill>
                <a:latin typeface="Arial"/>
                <a:ea typeface="Arial"/>
                <a:cs typeface="Arial"/>
              </a:defRPr>
            </a:lvl3pPr>
            <a:lvl4pPr>
              <a:defRPr sz="2550" b="1">
                <a:solidFill>
                  <a:srgbClr val="A4E3C3"/>
                </a:solidFill>
                <a:latin typeface="Arial"/>
                <a:ea typeface="Arial"/>
                <a:cs typeface="Arial"/>
              </a:defRPr>
            </a:lvl4pPr>
            <a:lvl5pPr>
              <a:defRPr sz="2550" b="1">
                <a:solidFill>
                  <a:srgbClr val="A4E3C3"/>
                </a:solidFill>
                <a:latin typeface="Arial"/>
                <a:ea typeface="Arial"/>
                <a:cs typeface="Arial"/>
              </a:defRPr>
            </a:lvl5pPr>
            <a:lvl6pPr>
              <a:defRPr sz="2550" b="1">
                <a:solidFill>
                  <a:srgbClr val="A4E3C3"/>
                </a:solidFill>
                <a:latin typeface="Arial"/>
                <a:ea typeface="Arial"/>
                <a:cs typeface="Arial"/>
              </a:defRPr>
            </a:lvl6pPr>
            <a:lvl7pPr>
              <a:defRPr sz="2550" b="1">
                <a:solidFill>
                  <a:srgbClr val="A4E3C3"/>
                </a:solidFill>
                <a:latin typeface="Arial"/>
                <a:ea typeface="Arial"/>
                <a:cs typeface="Arial"/>
              </a:defRPr>
            </a:lvl7pPr>
            <a:lvl8pPr>
              <a:defRPr sz="2550" b="1">
                <a:solidFill>
                  <a:srgbClr val="A4E3C3"/>
                </a:solidFill>
                <a:latin typeface="Arial"/>
                <a:ea typeface="Arial"/>
                <a:cs typeface="Arial"/>
              </a:defRPr>
            </a:lvl8pPr>
            <a:lvl9pPr>
              <a:defRPr sz="2550" b="1">
                <a:solidFill>
                  <a:srgbClr val="A4E3C3"/>
                </a:solidFill>
                <a:latin typeface="Arial"/>
                <a:ea typeface="Arial"/>
                <a:cs typeface="Arial"/>
              </a:defRPr>
            </a:lvl9pPr>
          </a:lstStyle>
          <a:p xmlns:a="http://schemas.openxmlformats.org/drawingml/2006/main">
            <a:pPr>
              <a:defRPr sz="2550" b="1">
                <a:solidFill>
                  <a:srgbClr val="A4E3C3"/>
                </a:solidFill>
                <a:latin typeface="Arial"/>
                <a:ea typeface="Arial"/>
                <a:cs typeface="Arial"/>
              </a:defRPr>
            </a:pPr>
            <a:r>
              <a:rPr sz="2550" b="1">
                <a:solidFill>
                  <a:srgbClr val="A4E3C3"/>
                </a:solidFill>
                <a:latin typeface="Arial"/>
                <a:ea typeface="Arial"/>
                <a:cs typeface="Arial"/>
              </a:rPr>
              <a:t>Every complex purchase can have a mandate</a:t>
            </a:r>
          </a:p>
          <a:p xmlns:a="http://schemas.openxmlformats.org/drawingml/2006/main">
            <a:pPr>
              <a:defRPr sz="2550" b="1">
                <a:solidFill>
                  <a:srgbClr val="A4E3C3"/>
                </a:solidFill>
                <a:latin typeface="Arial"/>
                <a:ea typeface="Arial"/>
                <a:cs typeface="Arial"/>
              </a:defRPr>
            </a:pPr>
            <a:r>
              <a:rPr sz="2550" b="1">
                <a:solidFill>
                  <a:srgbClr val="A4E3C3"/>
                </a:solidFill>
                <a:latin typeface="Arial"/>
                <a:ea typeface="Arial"/>
                <a:cs typeface="Arial"/>
              </a:rPr>
              <a:t>an agent can execute and explain.</a:t>
            </a:r>
          </a:p>
        </p:txBody>
      </p:sp>
      <p:sp>
        <p:nvSpPr>
          <p:cNvPr id="5" name="links">
            <a:extLst xmlns:a="http://schemas.openxmlformats.org/drawingml/2006/main">
              <a:ext uri="{FF2B5EF4-FFF2-40B4-BE49-F238E27FC236}">
                <a16:creationId xmlns:a16="http://schemas.microsoft.com/office/drawing/2014/main" id="{9BB94FCA-2844-4549-9B87-41B74CE62D96}"/>
              </a:ext>
            </a:extLst>
          </p:cNvPr>
          <p:cNvSpPr>
            <a:spLocks xmlns:a="http://schemas.openxmlformats.org/drawingml/2006/main" noGrp="1"/>
          </p:cNvSpPr>
          <p:nvPr/>
        </p:nvSpPr>
        <p:spPr>
          <a:xfrm xmlns:a="http://schemas.openxmlformats.org/drawingml/2006/main">
            <a:off x="609600" y="6410325"/>
            <a:ext cx="981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defRPr sz="1425" b="0">
                <a:solidFill>
                  <a:srgbClr val="A6BAC1"/>
                </a:solidFill>
                <a:latin typeface="Arial"/>
                <a:ea typeface="Arial"/>
                <a:cs typeface="Arial"/>
              </a:defRPr>
            </a:lvl1pPr>
            <a:lvl2pPr>
              <a:defRPr sz="1425" b="0">
                <a:solidFill>
                  <a:srgbClr val="A6BAC1"/>
                </a:solidFill>
                <a:latin typeface="Arial"/>
                <a:ea typeface="Arial"/>
                <a:cs typeface="Arial"/>
              </a:defRPr>
            </a:lvl2pPr>
            <a:lvl3pPr>
              <a:defRPr sz="1425" b="0">
                <a:solidFill>
                  <a:srgbClr val="A6BAC1"/>
                </a:solidFill>
                <a:latin typeface="Arial"/>
                <a:ea typeface="Arial"/>
                <a:cs typeface="Arial"/>
              </a:defRPr>
            </a:lvl3pPr>
            <a:lvl4pPr>
              <a:defRPr sz="1425" b="0">
                <a:solidFill>
                  <a:srgbClr val="A6BAC1"/>
                </a:solidFill>
                <a:latin typeface="Arial"/>
                <a:ea typeface="Arial"/>
                <a:cs typeface="Arial"/>
              </a:defRPr>
            </a:lvl4pPr>
            <a:lvl5pPr>
              <a:defRPr sz="1425" b="0">
                <a:solidFill>
                  <a:srgbClr val="A6BAC1"/>
                </a:solidFill>
                <a:latin typeface="Arial"/>
                <a:ea typeface="Arial"/>
                <a:cs typeface="Arial"/>
              </a:defRPr>
            </a:lvl5pPr>
            <a:lvl6pPr>
              <a:defRPr sz="1425" b="0">
                <a:solidFill>
                  <a:srgbClr val="A6BAC1"/>
                </a:solidFill>
                <a:latin typeface="Arial"/>
                <a:ea typeface="Arial"/>
                <a:cs typeface="Arial"/>
              </a:defRPr>
            </a:lvl6pPr>
            <a:lvl7pPr>
              <a:defRPr sz="1425" b="0">
                <a:solidFill>
                  <a:srgbClr val="A6BAC1"/>
                </a:solidFill>
                <a:latin typeface="Arial"/>
                <a:ea typeface="Arial"/>
                <a:cs typeface="Arial"/>
              </a:defRPr>
            </a:lvl7pPr>
            <a:lvl8pPr>
              <a:defRPr sz="1425" b="0">
                <a:solidFill>
                  <a:srgbClr val="A6BAC1"/>
                </a:solidFill>
                <a:latin typeface="Arial"/>
                <a:ea typeface="Arial"/>
                <a:cs typeface="Arial"/>
              </a:defRPr>
            </a:lvl8pPr>
            <a:lvl9pPr>
              <a:defRPr sz="1425" b="0">
                <a:solidFill>
                  <a:srgbClr val="A6BAC1"/>
                </a:solidFill>
                <a:latin typeface="Arial"/>
                <a:ea typeface="Arial"/>
                <a:cs typeface="Arial"/>
              </a:defRPr>
            </a:lvl9pPr>
          </a:lstStyle>
          <a:p xmlns:a="http://schemas.openxmlformats.org/drawingml/2006/main">
            <a:pPr>
              <a:defRPr sz="1425" b="0">
                <a:solidFill>
                  <a:srgbClr val="A6BAC1"/>
                </a:solidFill>
                <a:latin typeface="Arial"/>
                <a:ea typeface="Arial"/>
                <a:cs typeface="Arial"/>
              </a:defRPr>
            </a:pPr>
            <a:r>
              <a:rPr sz="1425" b="0">
                <a:solidFill>
                  <a:srgbClr val="A6BAC1"/>
                </a:solidFill>
                <a:latin typeface="Arial"/>
                <a:ea typeface="Arial"/>
                <a:cs typeface="Arial"/>
              </a:rPr>
              <a:t>asterion-mj13.onrender.com     github.com/Enrickq/asterion-commerce</a:t>
            </a:r>
          </a:p>
        </p:txBody>
      </p:sp>
    </p:spTree>
    <p:extLst>
      <p:ext uri="{BB962C8B-B14F-4D97-AF65-F5344CB8AC3E}">
        <p14:creationId xmlns:p14="http://schemas.microsoft.com/office/powerpoint/2010/main" val="375499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2026-10-25T22:06:38.8420000Z</dcterms:created>
  <dcterms:modified xsi:type="dcterms:W3CDTF">2026-10-25T22:06:38.8420000Z</dcterms:modified>
</coreProperties>
</file>